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NPQ+DhpSWinw6WRp6IpNcXv/o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Positioning: an AI-native knowledge layer for operating companies. The wedge is turning screen recordings into approved SOPs automatically, then making everything answerable through chat.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the problem as a cost of operations, not a tooling complaint. Every buyer persona feels at least two of the five costs listed.</a:t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pillars map to the three reasons knowledge bases fail: nobody writes them, nobody trusts them, nobody can find anything in them.</a:t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flow is the demo. If the recording-to-SOP step lands, the rest of the product sells itself.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stakes on the left half, differentiation on the right. Lead demos with recording upload and AI SOP generation.</a:t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the moat argument: retrieval quality on private, approved, versioned content is what competitors with generic AI search cannot copy quickly.</a:t>
            </a:r>
            <a:endParaRPr/>
          </a:p>
        </p:txBody>
      </p:sp>
      <p:sp>
        <p:nvSpPr>
          <p:cNvPr id="214" name="Google Shape;2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Healthcare and manufacturing are high-value but slow to buy. Land with agencies, ops and IT first.</a:t>
            </a:r>
            <a:endParaRPr/>
          </a:p>
        </p:txBody>
      </p:sp>
      <p:sp>
        <p:nvSpPr>
          <p:cNvPr id="248" name="Google Shape;2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 tier is capped on documents rather than features so the AI value is visible before the paywall.</a:t>
            </a:r>
            <a:endParaRPr/>
          </a:p>
        </p:txBody>
      </p:sp>
      <p:sp>
        <p:nvSpPr>
          <p:cNvPr id="291" name="Google Shape;2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Deliberately conventional. The differentiation is the retrieval and generation pipeline, not the infrastructure.</a:t>
            </a:r>
            <a:endParaRPr/>
          </a:p>
        </p:txBody>
      </p:sp>
      <p:sp>
        <p:nvSpPr>
          <p:cNvPr id="344" name="Google Shape;3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asked about Notion or Confluence: they are storage. The pitch is creation and retrieval, where they are weakest.</a:t>
            </a:r>
            <a:endParaRPr/>
          </a:p>
        </p:txBody>
      </p:sp>
      <p:sp>
        <p:nvSpPr>
          <p:cNvPr id="396" name="Google Shape;3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wedge, not the feature list. Ask for design partners in the room.</a:t>
            </a:r>
            <a:endParaRPr/>
          </a:p>
        </p:txBody>
      </p:sp>
      <p:sp>
        <p:nvSpPr>
          <p:cNvPr id="424" name="Google Shape;4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678fe463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f678fe463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wedge, not the feature list. Ask for design partners in the room.</a:t>
            </a:r>
            <a:endParaRPr/>
          </a:p>
        </p:txBody>
      </p:sp>
      <p:sp>
        <p:nvSpPr>
          <p:cNvPr id="454" name="Google Shape;454;g3f678fe463e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49.png"/><Relationship Id="rId8" Type="http://schemas.openxmlformats.org/officeDocument/2006/relationships/image" Target="../media/image24.png"/><Relationship Id="rId9" Type="http://schemas.openxmlformats.org/officeDocument/2006/relationships/image" Target="../media/image23.png"/><Relationship Id="rId10" Type="http://schemas.openxmlformats.org/officeDocument/2006/relationships/image" Target="../media/image27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40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Relationship Id="rId9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30.png"/><Relationship Id="rId6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35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2011680" y="-2377440"/>
            <a:ext cx="6766560" cy="6766560"/>
          </a:xfrm>
          <a:prstGeom prst="ellipse">
            <a:avLst/>
          </a:prstGeom>
          <a:solidFill>
            <a:srgbClr val="02809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595360" y="4754880"/>
            <a:ext cx="5120640" cy="5120640"/>
          </a:xfrm>
          <a:prstGeom prst="ellipse">
            <a:avLst/>
          </a:prstGeom>
          <a:solidFill>
            <a:srgbClr val="02C39A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8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B84D"/>
                </a:solidFill>
                <a:latin typeface="Calibri"/>
                <a:ea typeface="Calibri"/>
                <a:cs typeface="Calibri"/>
                <a:sym typeface="Calibri"/>
              </a:rPr>
              <a:t>PRODUCT CONCEPT  ·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1828800"/>
            <a:ext cx="6766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FlowZapp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79476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FD9D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FD9DA"/>
                </a:solidFill>
                <a:latin typeface="Calibri"/>
                <a:ea typeface="Calibri"/>
                <a:cs typeface="Calibri"/>
                <a:sym typeface="Calibri"/>
              </a:rPr>
              <a:t>One searchable source of truth for every process, policy and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FD9D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FD9DA"/>
                </a:solidFill>
                <a:latin typeface="Calibri"/>
                <a:ea typeface="Calibri"/>
                <a:cs typeface="Calibri"/>
                <a:sym typeface="Calibri"/>
              </a:rPr>
              <a:t>playbook — built automatically from the work you already 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98348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Screen recording  →  AI-drafted SOP  →  Approved, searchable, answerable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092440" y="1417320"/>
            <a:ext cx="3200400" cy="1005840"/>
          </a:xfrm>
          <a:prstGeom prst="roundRect">
            <a:avLst>
              <a:gd fmla="val 10909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321040" y="167335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8105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961120" y="163677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 Handbook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961120" y="19476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C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C4C6"/>
                </a:solidFill>
                <a:latin typeface="Calibri"/>
                <a:ea typeface="Calibri"/>
                <a:cs typeface="Calibri"/>
                <a:sym typeface="Calibri"/>
              </a:rPr>
              <a:t>Approved · Auto-indexed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092440" y="2788920"/>
            <a:ext cx="3566160" cy="1005840"/>
          </a:xfrm>
          <a:prstGeom prst="roundRect">
            <a:avLst>
              <a:gd fmla="val 10909" name="adj"/>
            </a:avLst>
          </a:prstGeom>
          <a:solidFill>
            <a:srgbClr val="0D5A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321040" y="304495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31821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8961120" y="300837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Onboarding SOP v4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961120" y="331927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C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C4C6"/>
                </a:solidFill>
                <a:latin typeface="Calibri"/>
                <a:ea typeface="Calibri"/>
                <a:cs typeface="Calibri"/>
                <a:sym typeface="Calibri"/>
              </a:rPr>
              <a:t>Approved · Auto-indexed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092440" y="4160520"/>
            <a:ext cx="3200400" cy="1005840"/>
          </a:xfrm>
          <a:prstGeom prst="roundRect">
            <a:avLst>
              <a:gd fmla="val 10909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321040" y="441655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45537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8961120" y="437997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Refund Policy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961120" y="46908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4C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C4C6"/>
                </a:solidFill>
                <a:latin typeface="Calibri"/>
                <a:ea typeface="Calibri"/>
                <a:cs typeface="Calibri"/>
                <a:sym typeface="Calibri"/>
              </a:rPr>
              <a:t>Approved · Auto-indexed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Knowledge is everywhere. Answers are nowhere.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137160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Documentation is scattered across tools that were never designed to work together — so the person who needs the answer either interrupts someone, or guesses.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2377440"/>
            <a:ext cx="2743200" cy="1188720"/>
          </a:xfrm>
          <a:prstGeom prst="roundRect">
            <a:avLst>
              <a:gd fmla="val 10769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41248" y="257860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27066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417320" y="25968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Google Docs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17320" y="29077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Sprawling, unversioned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11880" y="2377440"/>
            <a:ext cx="2743200" cy="1188720"/>
          </a:xfrm>
          <a:prstGeom prst="roundRect">
            <a:avLst>
              <a:gd fmla="val 10769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813048" y="257860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1064" y="27066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4389120" y="25968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Notion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389120" y="29077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Half-migrated, half-abandoned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" y="3794760"/>
            <a:ext cx="2743200" cy="1188720"/>
          </a:xfrm>
          <a:prstGeom prst="roundRect">
            <a:avLst>
              <a:gd fmla="val 10769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41248" y="399592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64" y="41239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1417320" y="40142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PDFs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417320" y="4325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Unsearchable, out of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611880" y="3794760"/>
            <a:ext cx="2743200" cy="1188720"/>
          </a:xfrm>
          <a:prstGeom prst="roundRect">
            <a:avLst>
              <a:gd fmla="val 10769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813048" y="399592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1064" y="41239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4389120" y="40142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Email &amp; chat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389120" y="4325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Tribal knowledge, one inbox deep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40080" y="544068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Four tools. Four search boxes. No owner, no version, no answer.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949440" y="1371600"/>
            <a:ext cx="4572000" cy="4754880"/>
          </a:xfrm>
          <a:prstGeom prst="roundRect">
            <a:avLst>
              <a:gd fmla="val 2800" name="adj"/>
            </a:avLst>
          </a:prstGeom>
          <a:solidFill>
            <a:srgbClr val="043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315200" y="16916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84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B84D"/>
                </a:solidFill>
                <a:latin typeface="Calibri"/>
                <a:ea typeface="Calibri"/>
                <a:cs typeface="Calibri"/>
                <a:sym typeface="Calibri"/>
              </a:rPr>
              <a:t>What it costs you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315200" y="2304288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589520" y="2194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 questions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589520" y="247802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Senior staff answer the same thing weekly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315200" y="3090672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589520" y="298094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Slow onboarding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589520" y="32644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New hires shadow instead of self-serve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7315200" y="3877056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7589520" y="3767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drift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589520" y="40507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Two teams, two versions, no 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315200" y="466344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589520" y="455371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exposure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7589520" y="48371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No approval trail, no version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7315200" y="5449824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7589520" y="53400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walks out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589520" y="5623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One resignation erases a 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Capture once. Answer forever.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40080" y="137160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 knowledge platform where documentation writes itself from real work, gets approved by the right owner, and answers questions in plain language.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0080" y="2331720"/>
            <a:ext cx="3474720" cy="3246120"/>
          </a:xfrm>
          <a:prstGeom prst="roundRect">
            <a:avLst>
              <a:gd fmla="val 3944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60120" y="269748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576" y="29169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3246120" y="26974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DCD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4DCDA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60120" y="37033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Create without writing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60120" y="4206240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Record a screen walkthrough. AI turns it into a structured, step-by-step SOP with headings, screenshots and checkpoints.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389120" y="2331720"/>
            <a:ext cx="3474720" cy="3246120"/>
          </a:xfrm>
          <a:prstGeom prst="roundRect">
            <a:avLst>
              <a:gd fmla="val 3944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709160" y="2697480"/>
            <a:ext cx="777240" cy="7772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8616" y="29169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6995160" y="26974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DCD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4DCD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709160" y="37033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Govern with confidence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09160" y="4206240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Folders, roles, approval workflow and full version history — so every document has an owner, a reviewer and a trail.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138160" y="2331720"/>
            <a:ext cx="3474720" cy="3246120"/>
          </a:xfrm>
          <a:prstGeom prst="roundRect">
            <a:avLst>
              <a:gd fmla="val 3944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8458200" y="2697480"/>
            <a:ext cx="777240" cy="77724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7656" y="29169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10744200" y="26974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DCD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4DCDA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458200" y="37033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Retrieve in seconds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458200" y="4206240"/>
            <a:ext cx="2834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 chatbot trained on your own documents answers questions instantly, with citations back to the source SOP.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loop: work → recording → draft SOP → approval → searchable answer → better work.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From a screen recording to an approved SOP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0080" y="1874520"/>
            <a:ext cx="2057400" cy="3291840"/>
          </a:xfrm>
          <a:prstGeom prst="roundRect">
            <a:avLst>
              <a:gd fmla="val 622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96112" y="214884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3042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1828800" y="21214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ED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9DED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96112" y="292608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Record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96112" y="3520440"/>
            <a:ext cx="1600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An employee records the process once — screen and voice — and uploads it to the workspace.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 rot="5400000">
            <a:off x="2770632" y="3429000"/>
            <a:ext cx="146304" cy="182880"/>
          </a:xfrm>
          <a:prstGeom prst="triangle">
            <a:avLst>
              <a:gd fmla="val 50000" name="adj"/>
            </a:avLst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907792" y="1874520"/>
            <a:ext cx="2057400" cy="3291840"/>
          </a:xfrm>
          <a:prstGeom prst="roundRect">
            <a:avLst>
              <a:gd fmla="val 622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163824" y="214884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9272" y="23042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4096512" y="21214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ED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9DED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163824" y="292608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Transcribe &amp; extract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163824" y="3520440"/>
            <a:ext cx="1600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AI transcribes the walkthrough, detects distinct actions and captures key frames as screenshots.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 rot="5400000">
            <a:off x="5038344" y="3429000"/>
            <a:ext cx="146304" cy="182880"/>
          </a:xfrm>
          <a:prstGeom prst="triangle">
            <a:avLst>
              <a:gd fmla="val 50000" name="adj"/>
            </a:avLst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175504" y="1874520"/>
            <a:ext cx="2057400" cy="3291840"/>
          </a:xfrm>
          <a:prstGeom prst="roundRect">
            <a:avLst>
              <a:gd fmla="val 622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431536" y="214884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6984" y="23042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6364224" y="21214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ED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9DED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31536" y="292608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Draft the SOP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431536" y="3520440"/>
            <a:ext cx="1600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 structured document is generated: purpose, scope, numbered steps, warnings and outcomes.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 rot="5400000">
            <a:off x="7306056" y="3429000"/>
            <a:ext cx="146304" cy="182880"/>
          </a:xfrm>
          <a:prstGeom prst="triangle">
            <a:avLst>
              <a:gd fmla="val 50000" name="adj"/>
            </a:avLst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443216" y="1874520"/>
            <a:ext cx="2057400" cy="3291840"/>
          </a:xfrm>
          <a:prstGeom prst="roundRect">
            <a:avLst>
              <a:gd fmla="val 622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699248" y="214884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4696" y="23042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/>
          <p:nvPr/>
        </p:nvSpPr>
        <p:spPr>
          <a:xfrm>
            <a:off x="8631936" y="21214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DED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9DED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699248" y="292608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Review &amp; approve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699248" y="3520440"/>
            <a:ext cx="1600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The process owner edits, approves and publishes. The version is stamped and indexed.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 rot="5400000">
            <a:off x="9573768" y="3429000"/>
            <a:ext cx="146304" cy="182880"/>
          </a:xfrm>
          <a:prstGeom prst="triangle">
            <a:avLst>
              <a:gd fmla="val 50000" name="adj"/>
            </a:avLst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9710928" y="1874520"/>
            <a:ext cx="2057400" cy="3291840"/>
          </a:xfrm>
          <a:prstGeom prst="roundRect">
            <a:avLst>
              <a:gd fmla="val 6222" name="adj"/>
            </a:avLst>
          </a:prstGeom>
          <a:solidFill>
            <a:srgbClr val="043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9966960" y="214884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22408" y="23042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/>
          <p:nvPr/>
        </p:nvSpPr>
        <p:spPr>
          <a:xfrm>
            <a:off x="10899648" y="212140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6C7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6C72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966960" y="292608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questions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966960" y="3520440"/>
            <a:ext cx="1600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The chatbot retrieves from approved content only, and cites the SOP it answered from.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Every step above is where the product removes work a human is doing today.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Core features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0080" y="1325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Everything a team needs to write, organise, govern and find its documentation.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0080" y="19202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68680" y="21396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276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868680" y="27614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SOP builder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68680" y="32186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Templated, step-based authoring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907792" y="19202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136392" y="21396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3552" y="2276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/>
          <p:nvPr/>
        </p:nvSpPr>
        <p:spPr>
          <a:xfrm>
            <a:off x="3136392" y="27614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Rich text editor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136392" y="32186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Blocks, tables, media, embeds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175504" y="19202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404104" y="21396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1264" y="2276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/>
          <p:nvPr/>
        </p:nvSpPr>
        <p:spPr>
          <a:xfrm>
            <a:off x="5404104" y="27614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Folder structure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404104" y="32186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Departments, teams, spaces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443216" y="19202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7671816" y="21396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08976" y="2276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7671816" y="27614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AI search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671816" y="32186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Semantic, not keyword matching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710928" y="19202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9939528" y="21396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76688" y="2276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/>
          <p:nvPr/>
        </p:nvSpPr>
        <p:spPr>
          <a:xfrm>
            <a:off x="9939528" y="27614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Version history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939528" y="32186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Every change, diffed and restorable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40080" y="39776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68680" y="41970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5840" y="4334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/>
          <p:nvPr/>
        </p:nvSpPr>
        <p:spPr>
          <a:xfrm>
            <a:off x="868680" y="48188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Approval workflow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68680" y="52760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Draft → review → publish, with owners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907792" y="39776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136392" y="41970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73552" y="4334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/>
          <p:nvPr/>
        </p:nvSpPr>
        <p:spPr>
          <a:xfrm>
            <a:off x="3136392" y="48188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Employee handbook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136392" y="52760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Policies, onboarding, acknowledgements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175504" y="39776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404104" y="41970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41264" y="4334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/>
          <p:nvPr/>
        </p:nvSpPr>
        <p:spPr>
          <a:xfrm>
            <a:off x="5404104" y="48188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Screen recording upload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404104" y="52760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Capture the process as it happens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443216" y="39776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7671816" y="41970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08976" y="4334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/>
          <p:nvPr/>
        </p:nvSpPr>
        <p:spPr>
          <a:xfrm>
            <a:off x="7671816" y="48188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AI SOP generation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671816" y="52760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Recordings become draft documents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9710928" y="3977640"/>
            <a:ext cx="2057400" cy="1828800"/>
          </a:xfrm>
          <a:prstGeom prst="roundRect">
            <a:avLst>
              <a:gd fmla="val 7000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9939528" y="41970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76688" y="4334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/>
          <p:nvPr/>
        </p:nvSpPr>
        <p:spPr>
          <a:xfrm>
            <a:off x="9939528" y="481888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Team permissions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9939528" y="527608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Role-based access down to the folder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first eight are table stakes. The last two are why a team switches.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353D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/>
          <p:nvPr/>
        </p:nvSpPr>
        <p:spPr>
          <a:xfrm>
            <a:off x="9692640" y="-1737360"/>
            <a:ext cx="4937760" cy="4937760"/>
          </a:xfrm>
          <a:prstGeom prst="ellipse">
            <a:avLst/>
          </a:prstGeom>
          <a:solidFill>
            <a:srgbClr val="02809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84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B84D"/>
                </a:solidFill>
                <a:latin typeface="Calibri"/>
                <a:ea typeface="Calibri"/>
                <a:cs typeface="Calibri"/>
                <a:sym typeface="Calibri"/>
              </a:rPr>
              <a:t>THE AI LAYER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makes it worth switching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40080" y="141732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A vector index over your own approved content — so the model answers from your process,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not from the internet.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40080" y="2286000"/>
            <a:ext cx="10881360" cy="749808"/>
          </a:xfrm>
          <a:prstGeom prst="roundRect">
            <a:avLst>
              <a:gd fmla="val 12195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868680" y="2432304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25511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/>
          <p:nvPr/>
        </p:nvSpPr>
        <p:spPr>
          <a:xfrm>
            <a:off x="1481328" y="2459736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→ SOP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434840" y="248716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Turn any screen recording into a structured, editable document in minutes.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40080" y="3145536"/>
            <a:ext cx="10881360" cy="749808"/>
          </a:xfrm>
          <a:prstGeom prst="roundRect">
            <a:avLst>
              <a:gd fmla="val 12195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552" y="3410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/>
          <p:nvPr/>
        </p:nvSpPr>
        <p:spPr>
          <a:xfrm>
            <a:off x="1481328" y="3319272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Professional rewrite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434840" y="3346704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Rough notes become clear, consistent, on-brand procedure language.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40080" y="4005072"/>
            <a:ext cx="10881360" cy="749808"/>
          </a:xfrm>
          <a:prstGeom prst="roundRect">
            <a:avLst>
              <a:gd fmla="val 12195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868680" y="415137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7552" y="427024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/>
          <p:nvPr/>
        </p:nvSpPr>
        <p:spPr>
          <a:xfrm>
            <a:off x="1481328" y="41788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One-click translation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434840" y="42062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Publish the same SOP for every location and language your team works 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40080" y="4864608"/>
            <a:ext cx="10881360" cy="749808"/>
          </a:xfrm>
          <a:prstGeom prst="roundRect">
            <a:avLst>
              <a:gd fmla="val 12195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868680" y="501091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552" y="51297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1481328" y="5038344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on your docs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434840" y="506577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Trained only on your knowledge base, with citations to the source document.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40080" y="5724144"/>
            <a:ext cx="10881360" cy="749808"/>
          </a:xfrm>
          <a:prstGeom prst="roundRect">
            <a:avLst>
              <a:gd fmla="val 12195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868680" y="587044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552" y="59893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/>
          <p:cNvSpPr/>
          <p:nvPr/>
        </p:nvSpPr>
        <p:spPr>
          <a:xfrm>
            <a:off x="1481328" y="58978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answers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434840" y="592531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Ask a question in plain language and get the step — not a list of ten links.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WHO IT'S FOR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Teams that run on repeatable process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40080" y="1691640"/>
            <a:ext cx="2606040" cy="1965960"/>
          </a:xfrm>
          <a:prstGeom prst="roundRect">
            <a:avLst>
              <a:gd fmla="val 651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868680" y="1920240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86868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Agencies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68680" y="290779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Client delivery playbooks that survive staff churn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456432" y="1691640"/>
            <a:ext cx="2606040" cy="1965960"/>
          </a:xfrm>
          <a:prstGeom prst="roundRect">
            <a:avLst>
              <a:gd fmla="val 651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3685032" y="1920240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2192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7"/>
          <p:cNvSpPr/>
          <p:nvPr/>
        </p:nvSpPr>
        <p:spPr>
          <a:xfrm>
            <a:off x="3685032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685032" y="290779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Handbooks, onboarding and policy acknowledgement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272784" y="1691640"/>
            <a:ext cx="2606040" cy="1965960"/>
          </a:xfrm>
          <a:prstGeom prst="roundRect">
            <a:avLst>
              <a:gd fmla="val 651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6501384" y="1920240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8544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/>
          <p:nvPr/>
        </p:nvSpPr>
        <p:spPr>
          <a:xfrm>
            <a:off x="6501384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501384" y="290779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Standardised process across sites and shifts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089136" y="1691640"/>
            <a:ext cx="2606040" cy="1965960"/>
          </a:xfrm>
          <a:prstGeom prst="roundRect">
            <a:avLst>
              <a:gd fmla="val 651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9317736" y="1920240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54896" y="20574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7"/>
          <p:cNvSpPr/>
          <p:nvPr/>
        </p:nvSpPr>
        <p:spPr>
          <a:xfrm>
            <a:off x="9317736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Customer support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9317736" y="290779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Answer-first macros and escalation paths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2048256" y="3886200"/>
            <a:ext cx="2606040" cy="1965960"/>
          </a:xfrm>
          <a:prstGeom prst="roundRect">
            <a:avLst>
              <a:gd fmla="val 651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276856" y="4114800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4016" y="4251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/>
          <p:nvPr/>
        </p:nvSpPr>
        <p:spPr>
          <a:xfrm>
            <a:off x="2276856" y="47548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276856" y="510235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Work instructions with visual, versioned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864608" y="3886200"/>
            <a:ext cx="2606040" cy="1965960"/>
          </a:xfrm>
          <a:prstGeom prst="roundRect">
            <a:avLst>
              <a:gd fmla="val 651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5093208" y="4114800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0368" y="4251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7"/>
          <p:cNvSpPr/>
          <p:nvPr/>
        </p:nvSpPr>
        <p:spPr>
          <a:xfrm>
            <a:off x="5093208" y="47548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093208" y="510235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Protocol control with an auditable approval trail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7680960" y="3886200"/>
            <a:ext cx="2606040" cy="1965960"/>
          </a:xfrm>
          <a:prstGeom prst="roundRect">
            <a:avLst>
              <a:gd fmla="val 6512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7909560" y="4114800"/>
            <a:ext cx="512064" cy="51206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46720" y="4251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/>
          <p:nvPr/>
        </p:nvSpPr>
        <p:spPr>
          <a:xfrm>
            <a:off x="7909560" y="475488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IT companies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7909560" y="510235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Runbooks, onboarding and internal engineering 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Beachhead: agencies and ops teams of 10–200 — enough process to hurt, no compliance procurement cycle.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Simple tiers, room to expand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40080" y="132588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Free gets a team in. Pro converts the individual champion. Team monetises the rollout.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1234440" y="2011680"/>
            <a:ext cx="2971800" cy="3840480"/>
          </a:xfrm>
          <a:prstGeom prst="roundRect">
            <a:avLst>
              <a:gd fmla="val 4308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1554480" y="230428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554480" y="2697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$0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1554480" y="349300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per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1572768" y="392277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1828800" y="38404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Up to 3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1572768" y="428853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1828800" y="42062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50 documents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572768" y="465429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1828800" y="45720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Basic AI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572768" y="502005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1828800" y="49377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Core editor &amp; folders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572768" y="538581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1828800" y="5303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Community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572000" y="1847088"/>
            <a:ext cx="2971800" cy="4160520"/>
          </a:xfrm>
          <a:prstGeom prst="roundRect">
            <a:avLst>
              <a:gd fmla="val 4308" name="adj"/>
            </a:avLst>
          </a:prstGeom>
          <a:solidFill>
            <a:srgbClr val="04353D"/>
          </a:solidFill>
          <a:ln>
            <a:noFill/>
          </a:ln>
          <a:effectLst>
            <a:outerShdw blurRad="127000" rotWithShape="0" algn="bl" dir="5400000" dist="25400">
              <a:srgbClr val="0A3A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6355080" y="2121408"/>
            <a:ext cx="960120" cy="310896"/>
          </a:xfrm>
          <a:prstGeom prst="roundRect">
            <a:avLst>
              <a:gd fmla="val 47059" name="adj"/>
            </a:avLst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6355080" y="2167128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353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4353D"/>
                </a:solidFill>
                <a:latin typeface="Calibri"/>
                <a:ea typeface="Calibri"/>
                <a:cs typeface="Calibri"/>
                <a:sym typeface="Calibri"/>
              </a:rPr>
              <a:t>POPULAR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892040" y="213969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892040" y="2532888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$19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892040" y="332841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per user /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910328" y="3849624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166360" y="37673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7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7E7"/>
                </a:solidFill>
                <a:latin typeface="Calibri"/>
                <a:ea typeface="Calibri"/>
                <a:cs typeface="Calibri"/>
                <a:sym typeface="Calibri"/>
              </a:rPr>
              <a:t>Unlimited documents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910328" y="4215384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166360" y="41330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7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7E7"/>
                </a:solidFill>
                <a:latin typeface="Calibri"/>
                <a:ea typeface="Calibri"/>
                <a:cs typeface="Calibri"/>
                <a:sym typeface="Calibri"/>
              </a:rPr>
              <a:t>Video → SOP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910328" y="4581144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5166360" y="449884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7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7E7"/>
                </a:solidFill>
                <a:latin typeface="Calibri"/>
                <a:ea typeface="Calibri"/>
                <a:cs typeface="Calibri"/>
                <a:sym typeface="Calibri"/>
              </a:rPr>
              <a:t>AI rewrite &amp; translation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910328" y="4946904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166360" y="486460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7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7E7"/>
                </a:solidFill>
                <a:latin typeface="Calibri"/>
                <a:ea typeface="Calibri"/>
                <a:cs typeface="Calibri"/>
                <a:sym typeface="Calibri"/>
              </a:rPr>
              <a:t>Version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910328" y="5312664"/>
            <a:ext cx="100584" cy="10058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5166360" y="523036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7E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E7E7"/>
                </a:solidFill>
                <a:latin typeface="Calibri"/>
                <a:ea typeface="Calibri"/>
                <a:cs typeface="Calibri"/>
                <a:sym typeface="Calibri"/>
              </a:rPr>
              <a:t>Priority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7909560" y="2011680"/>
            <a:ext cx="2971800" cy="3840480"/>
          </a:xfrm>
          <a:prstGeom prst="roundRect">
            <a:avLst>
              <a:gd fmla="val 4308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8229600" y="230428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8229600" y="2697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$59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8229600" y="349300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per month, 10 seats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8247888" y="392277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8503920" y="38404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Everything in Pro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8247888" y="428853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8503920" y="42062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Approval workflows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8247888" y="465429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8503920" y="45720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Team permissions &amp;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8247888" y="502005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8503920" y="49377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Chatbot on company docs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8247888" y="5385816"/>
            <a:ext cx="100584" cy="1005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8503920" y="5303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Analytics &amp; 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Tier contents are a working proposal — the price points are fixed, the packaging is still open.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Built on a fast, boring stack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fmla="val 12174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896112" y="181965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416" y="1965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9"/>
          <p:cNvSpPr/>
          <p:nvPr/>
        </p:nvSpPr>
        <p:spPr>
          <a:xfrm>
            <a:off x="1600200" y="177393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1600200" y="210312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Single-page app, editor, dashboards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394960" y="1920240"/>
            <a:ext cx="1197864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5394960" y="1975104"/>
            <a:ext cx="1197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Angular 21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711696" y="1920240"/>
            <a:ext cx="948232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6711696" y="1975104"/>
            <a:ext cx="948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PrimeNG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7778800" y="1920240"/>
            <a:ext cx="1197864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7778800" y="1975104"/>
            <a:ext cx="1197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Aura theme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40080" y="2724912"/>
            <a:ext cx="10881360" cy="1051560"/>
          </a:xfrm>
          <a:prstGeom prst="roundRect">
            <a:avLst>
              <a:gd fmla="val 12174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896112" y="2990088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416" y="3136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9"/>
          <p:cNvSpPr/>
          <p:nvPr/>
        </p:nvSpPr>
        <p:spPr>
          <a:xfrm>
            <a:off x="1600200" y="2944368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Backend &amp; auth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600200" y="327355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REST API, sessions, queues, jobs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394960" y="3090672"/>
            <a:ext cx="1197864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5394960" y="3145536"/>
            <a:ext cx="1197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Laravel 12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711696" y="3090672"/>
            <a:ext cx="948232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6711696" y="3145536"/>
            <a:ext cx="948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PHP 8.3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7778800" y="3090672"/>
            <a:ext cx="948232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7778800" y="3145536"/>
            <a:ext cx="948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Sanctum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40080" y="3895344"/>
            <a:ext cx="10881360" cy="1051560"/>
          </a:xfrm>
          <a:prstGeom prst="roundRect">
            <a:avLst>
              <a:gd fmla="val 12174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896112" y="4160520"/>
            <a:ext cx="548640" cy="54864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416" y="43068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/>
          <p:nvPr/>
        </p:nvSpPr>
        <p:spPr>
          <a:xfrm>
            <a:off x="1600200" y="411480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Data &amp; cache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1600200" y="444398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Relational core, cache, queue, 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5394960" y="4261104"/>
            <a:ext cx="1114653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5394960" y="4315968"/>
            <a:ext cx="111465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MySQL 8.4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628485" y="4261104"/>
            <a:ext cx="1031443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6628485" y="4315968"/>
            <a:ext cx="103144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Valkey 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7778800" y="4261104"/>
            <a:ext cx="1364284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7778800" y="4315968"/>
            <a:ext cx="13642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TLS required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640080" y="5065776"/>
            <a:ext cx="10881360" cy="1051560"/>
          </a:xfrm>
          <a:prstGeom prst="roundRect">
            <a:avLst>
              <a:gd fmla="val 12174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896112" y="53309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2416" y="54772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9"/>
          <p:cNvSpPr/>
          <p:nvPr/>
        </p:nvSpPr>
        <p:spPr>
          <a:xfrm>
            <a:off x="1600200" y="528523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1600200" y="561441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Transcription, generation,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5394960" y="5431536"/>
            <a:ext cx="1197864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5394960" y="5486400"/>
            <a:ext cx="1197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Claude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6711696" y="5431536"/>
            <a:ext cx="1697126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6711696" y="5486400"/>
            <a:ext cx="169712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Driver interface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8527694" y="5431536"/>
            <a:ext cx="1364284" cy="365760"/>
          </a:xfrm>
          <a:prstGeom prst="roundRect">
            <a:avLst>
              <a:gd fmla="val 4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8527694" y="5486400"/>
            <a:ext cx="13642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Vector index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One managed MySQL, one Valkey, one object store, one vector index — all on DigitalOcean App Platform. Ships fast, stays cheap to run.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POSITIONING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3272B"/>
                </a:solidFill>
                <a:latin typeface="Cambria"/>
                <a:ea typeface="Cambria"/>
                <a:cs typeface="Cambria"/>
                <a:sym typeface="Cambria"/>
              </a:rPr>
              <a:t>Why this wins against a wiki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640080" y="1691640"/>
            <a:ext cx="5212080" cy="1874520"/>
          </a:xfrm>
          <a:prstGeom prst="roundRect">
            <a:avLst>
              <a:gd fmla="val 6829" name="adj"/>
            </a:avLst>
          </a:prstGeom>
          <a:solidFill>
            <a:srgbClr val="043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932688" y="1984248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136" y="21396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0"/>
          <p:cNvSpPr/>
          <p:nvPr/>
        </p:nvSpPr>
        <p:spPr>
          <a:xfrm>
            <a:off x="1691640" y="202082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Creation is the bottleneck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1691640" y="2441448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Wikis assume someone will write the page. We generate the first draft from a recording, so documentation actually gets created.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6263640" y="1691640"/>
            <a:ext cx="5212080" cy="1874520"/>
          </a:xfrm>
          <a:prstGeom prst="roundRect">
            <a:avLst>
              <a:gd fmla="val 6829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6556248" y="198424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1696" y="21396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0"/>
          <p:cNvSpPr/>
          <p:nvPr/>
        </p:nvSpPr>
        <p:spPr>
          <a:xfrm>
            <a:off x="7315200" y="202082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Answers, not documents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7315200" y="2441448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Search returns links. Our chatbot returns the step, cited back to the approved SOP it came from.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640080" y="3840480"/>
            <a:ext cx="5212080" cy="1874520"/>
          </a:xfrm>
          <a:prstGeom prst="roundRect">
            <a:avLst>
              <a:gd fmla="val 6829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932688" y="413308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136" y="4288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0"/>
          <p:cNvSpPr/>
          <p:nvPr/>
        </p:nvSpPr>
        <p:spPr>
          <a:xfrm>
            <a:off x="1691640" y="416966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Governance built 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1691640" y="4590288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Approval workflow, ownership and version history are core objects — not a plugin or a manual convention.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6263640" y="3840480"/>
            <a:ext cx="5212080" cy="1874520"/>
          </a:xfrm>
          <a:prstGeom prst="roundRect">
            <a:avLst>
              <a:gd fmla="val 6829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6556248" y="4133088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1696" y="4288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0"/>
          <p:cNvSpPr/>
          <p:nvPr/>
        </p:nvSpPr>
        <p:spPr>
          <a:xfrm>
            <a:off x="7315200" y="416966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7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72B"/>
                </a:solidFill>
                <a:latin typeface="Calibri"/>
                <a:ea typeface="Calibri"/>
                <a:cs typeface="Calibri"/>
                <a:sym typeface="Calibri"/>
              </a:rPr>
              <a:t>Priced for the whole team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7315200" y="4590288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 flat team tier at $59 makes it cheap to roll out to everyone, which is exactly when a knowledge base starts working.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Competitors sell a place to put documents. We sell the documents getting written and read.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353D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"/>
          <p:cNvSpPr/>
          <p:nvPr/>
        </p:nvSpPr>
        <p:spPr>
          <a:xfrm>
            <a:off x="-1828800" y="3291840"/>
            <a:ext cx="6035040" cy="6035040"/>
          </a:xfrm>
          <a:prstGeom prst="ellipse">
            <a:avLst/>
          </a:prstGeom>
          <a:solidFill>
            <a:srgbClr val="028090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84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B84D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concept to first customers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40080" y="2011680"/>
            <a:ext cx="2606040" cy="2743200"/>
          </a:xfrm>
          <a:prstGeom prst="roundRect">
            <a:avLst>
              <a:gd fmla="val 4912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432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/>
          <p:nvPr/>
        </p:nvSpPr>
        <p:spPr>
          <a:xfrm>
            <a:off x="914400" y="29992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 the wedge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914400" y="3401568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Ship recording → AI-drafted SOP end to end. That single flow is the demo and the wedge.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3456432" y="2011680"/>
            <a:ext cx="2606040" cy="2743200"/>
          </a:xfrm>
          <a:prstGeom prst="roundRect">
            <a:avLst>
              <a:gd fmla="val 4912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3730752" y="22860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6" name="Google Shape;4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7056" y="2432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1"/>
          <p:cNvSpPr/>
          <p:nvPr/>
        </p:nvSpPr>
        <p:spPr>
          <a:xfrm>
            <a:off x="3730752" y="29992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partners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3730752" y="3401568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Recruit 5 agencies or ops teams to run real processes through it for free, in exchange for feedback.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6272784" y="2011680"/>
            <a:ext cx="2606040" cy="2743200"/>
          </a:xfrm>
          <a:prstGeom prst="roundRect">
            <a:avLst>
              <a:gd fmla="val 4912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6547104" y="22860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3408" y="2432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1"/>
          <p:cNvSpPr/>
          <p:nvPr/>
        </p:nvSpPr>
        <p:spPr>
          <a:xfrm>
            <a:off x="6547104" y="29992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 the retrieval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6547104" y="3401568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Chatbot with citations over approved content only — the feature that converts Free to Team.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9089136" y="2011680"/>
            <a:ext cx="2606040" cy="2743200"/>
          </a:xfrm>
          <a:prstGeom prst="roundRect">
            <a:avLst>
              <a:gd fmla="val 4912" name="adj"/>
            </a:avLst>
          </a:prstGeom>
          <a:solidFill>
            <a:srgbClr val="0A4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9363456" y="22860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9760" y="2432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1"/>
          <p:cNvSpPr/>
          <p:nvPr/>
        </p:nvSpPr>
        <p:spPr>
          <a:xfrm>
            <a:off x="9363456" y="2999232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the paid tiers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9363456" y="3401568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A9C7C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9C7C9"/>
                </a:solidFill>
                <a:latin typeface="Calibri"/>
                <a:ea typeface="Calibri"/>
                <a:cs typeface="Calibri"/>
                <a:sym typeface="Calibri"/>
              </a:rPr>
              <a:t>Launch Pro and Team once approval workflow and permissions are stable.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One searchable source of truth for every process, policy and playbook.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FlowZapp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353D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678fe463e_0_4"/>
          <p:cNvSpPr/>
          <p:nvPr/>
        </p:nvSpPr>
        <p:spPr>
          <a:xfrm>
            <a:off x="-1828800" y="3291840"/>
            <a:ext cx="6035100" cy="6035100"/>
          </a:xfrm>
          <a:prstGeom prst="ellipse">
            <a:avLst/>
          </a:prstGeom>
          <a:solidFill>
            <a:srgbClr val="028090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678fe463e_0_4"/>
          <p:cNvSpPr/>
          <p:nvPr/>
        </p:nvSpPr>
        <p:spPr>
          <a:xfrm>
            <a:off x="640080" y="5852160"/>
            <a:ext cx="10881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FlowZapp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678fe463e_0_4"/>
          <p:cNvSpPr txBox="1"/>
          <p:nvPr/>
        </p:nvSpPr>
        <p:spPr>
          <a:xfrm>
            <a:off x="4058550" y="2898000"/>
            <a:ext cx="4074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chemeClr val="lt1"/>
                </a:solidFill>
              </a:rPr>
              <a:t>Thank You</a:t>
            </a:r>
            <a:endParaRPr b="1"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2026-08-06T05:46:48Z</dcterms:created>
  <dc:creator>PptxGenJS</dc:creator>
</cp:coreProperties>
</file>