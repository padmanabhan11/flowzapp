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7" roundtripDataSignature="AMtx7mhNPQ+DhpSWinw6WRp6IpNcXv/oJ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Positioning: an AI-native knowledge layer for operating companies. The wedge is turning screen recordings into approved SOPs automatically, then making everything answerable through chat.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" name="Google Shape;39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Frame the problem as a cost of operations, not a tooling complaint. Every buyer persona feels at least two of the five costs listed.</a:t>
            </a:r>
            <a:endParaRPr/>
          </a:p>
        </p:txBody>
      </p:sp>
      <p:sp>
        <p:nvSpPr>
          <p:cNvPr id="40" name="Google Shape;40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Three pillars map to the three reasons knowledge bases fail: nobody writes them, nobody trusts them, nobody can find anything in them.</a:t>
            </a:r>
            <a:endParaRPr/>
          </a:p>
        </p:txBody>
      </p:sp>
      <p:sp>
        <p:nvSpPr>
          <p:cNvPr id="86" name="Google Shape;86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This flow is the demo. If the recording-to-SOP step lands, the rest of the product sells itself.</a:t>
            </a:r>
            <a:endParaRPr/>
          </a:p>
        </p:txBody>
      </p:sp>
      <p:sp>
        <p:nvSpPr>
          <p:cNvPr id="113" name="Google Shape;113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4" name="Google Shape;154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Table stakes on the left half, differentiation on the right. Lead demos with recording upload and AI SOP generation.</a:t>
            </a:r>
            <a:endParaRPr/>
          </a:p>
        </p:txBody>
      </p:sp>
      <p:sp>
        <p:nvSpPr>
          <p:cNvPr id="155" name="Google Shape;155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3" name="Google Shape;21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This slide is the moat argument: retrieval quality on private, approved, versioned content is what competitors with generic AI search cannot copy quickly.</a:t>
            </a:r>
            <a:endParaRPr/>
          </a:p>
        </p:txBody>
      </p:sp>
      <p:sp>
        <p:nvSpPr>
          <p:cNvPr id="214" name="Google Shape;214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7" name="Google Shape;24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Healthcare and manufacturing are high-value but slow to buy. Land with agencies, ops and IT first.</a:t>
            </a:r>
            <a:endParaRPr/>
          </a:p>
        </p:txBody>
      </p:sp>
      <p:sp>
        <p:nvSpPr>
          <p:cNvPr id="248" name="Google Shape;248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0" name="Google Shape;290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Free tier is capped on documents rather than features so the AI value is visible before the paywall.</a:t>
            </a:r>
            <a:endParaRPr/>
          </a:p>
        </p:txBody>
      </p:sp>
      <p:sp>
        <p:nvSpPr>
          <p:cNvPr id="291" name="Google Shape;291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3" name="Google Shape;34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Deliberately conventional. The differentiation is the retrieval and generation pipeline, not the infrastructure.</a:t>
            </a:r>
            <a:endParaRPr/>
          </a:p>
        </p:txBody>
      </p:sp>
      <p:sp>
        <p:nvSpPr>
          <p:cNvPr id="344" name="Google Shape;344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5" name="Google Shape;39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If asked about Notion or Confluence: they are storage. The pitch is creation and retrieval, where they are weakest.</a:t>
            </a:r>
            <a:endParaRPr/>
          </a:p>
        </p:txBody>
      </p:sp>
      <p:sp>
        <p:nvSpPr>
          <p:cNvPr id="396" name="Google Shape;396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Close on the wedge, not the feature list. Ask for design partners in the room.</a:t>
            </a:r>
            <a:endParaRPr/>
          </a:p>
        </p:txBody>
      </p:sp>
      <p:sp>
        <p:nvSpPr>
          <p:cNvPr id="424" name="Google Shape;424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3f678fe463e_0_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3" name="Google Shape;453;g3f678fe463e_0_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Close on the wedge, not the feature list. Ask for design partners in the room.</a:t>
            </a:r>
            <a:endParaRPr/>
          </a:p>
        </p:txBody>
      </p:sp>
      <p:sp>
        <p:nvSpPr>
          <p:cNvPr id="454" name="Google Shape;454;g3f678fe463e_0_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15.png"/><Relationship Id="rId5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17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.png"/><Relationship Id="rId6" Type="http://schemas.openxmlformats.org/officeDocument/2006/relationships/image" Target="../media/image12.png"/><Relationship Id="rId7" Type="http://schemas.openxmlformats.org/officeDocument/2006/relationships/image" Target="../media/image1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Relationship Id="rId5" Type="http://schemas.openxmlformats.org/officeDocument/2006/relationships/image" Target="../media/image16.png"/><Relationship Id="rId6" Type="http://schemas.openxmlformats.org/officeDocument/2006/relationships/image" Target="../media/image19.png"/><Relationship Id="rId7" Type="http://schemas.openxmlformats.org/officeDocument/2006/relationships/image" Target="../media/image49.png"/><Relationship Id="rId8" Type="http://schemas.openxmlformats.org/officeDocument/2006/relationships/image" Target="../media/image24.png"/><Relationship Id="rId9" Type="http://schemas.openxmlformats.org/officeDocument/2006/relationships/image" Target="../media/image23.png"/><Relationship Id="rId10" Type="http://schemas.openxmlformats.org/officeDocument/2006/relationships/image" Target="../media/image27.png"/><Relationship Id="rId11" Type="http://schemas.openxmlformats.org/officeDocument/2006/relationships/image" Target="../media/image21.png"/><Relationship Id="rId12" Type="http://schemas.openxmlformats.org/officeDocument/2006/relationships/image" Target="../media/image2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5.png"/><Relationship Id="rId5" Type="http://schemas.openxmlformats.org/officeDocument/2006/relationships/image" Target="../media/image40.png"/><Relationship Id="rId6" Type="http://schemas.openxmlformats.org/officeDocument/2006/relationships/image" Target="../media/image30.png"/><Relationship Id="rId7" Type="http://schemas.openxmlformats.org/officeDocument/2006/relationships/image" Target="../media/image2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6.png"/><Relationship Id="rId4" Type="http://schemas.openxmlformats.org/officeDocument/2006/relationships/image" Target="../media/image43.png"/><Relationship Id="rId5" Type="http://schemas.openxmlformats.org/officeDocument/2006/relationships/image" Target="../media/image26.png"/><Relationship Id="rId6" Type="http://schemas.openxmlformats.org/officeDocument/2006/relationships/image" Target="../media/image29.png"/><Relationship Id="rId7" Type="http://schemas.openxmlformats.org/officeDocument/2006/relationships/image" Target="../media/image32.png"/><Relationship Id="rId8" Type="http://schemas.openxmlformats.org/officeDocument/2006/relationships/image" Target="../media/image36.png"/><Relationship Id="rId9" Type="http://schemas.openxmlformats.org/officeDocument/2006/relationships/image" Target="../media/image3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3.png"/><Relationship Id="rId4" Type="http://schemas.openxmlformats.org/officeDocument/2006/relationships/image" Target="../media/image38.png"/><Relationship Id="rId5" Type="http://schemas.openxmlformats.org/officeDocument/2006/relationships/image" Target="../media/image35.png"/><Relationship Id="rId6" Type="http://schemas.openxmlformats.org/officeDocument/2006/relationships/image" Target="../media/image3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1.png"/><Relationship Id="rId4" Type="http://schemas.openxmlformats.org/officeDocument/2006/relationships/image" Target="../media/image9.png"/><Relationship Id="rId5" Type="http://schemas.openxmlformats.org/officeDocument/2006/relationships/image" Target="../media/image8.png"/><Relationship Id="rId6" Type="http://schemas.openxmlformats.org/officeDocument/2006/relationships/image" Target="../media/image4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4.png"/><Relationship Id="rId4" Type="http://schemas.openxmlformats.org/officeDocument/2006/relationships/image" Target="../media/image42.png"/><Relationship Id="rId5" Type="http://schemas.openxmlformats.org/officeDocument/2006/relationships/image" Target="../media/image30.png"/><Relationship Id="rId6" Type="http://schemas.openxmlformats.org/officeDocument/2006/relationships/image" Target="../media/image4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4353D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-2011680" y="-2377440"/>
            <a:ext cx="6766560" cy="6766560"/>
          </a:xfrm>
          <a:prstGeom prst="ellipse">
            <a:avLst/>
          </a:prstGeom>
          <a:solidFill>
            <a:srgbClr val="028090">
              <a:alpha val="1803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8595360" y="4754880"/>
            <a:ext cx="5120640" cy="5120640"/>
          </a:xfrm>
          <a:prstGeom prst="ellipse">
            <a:avLst/>
          </a:prstGeom>
          <a:solidFill>
            <a:srgbClr val="02C39A">
              <a:alpha val="12157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1"/>
          <p:cNvSpPr/>
          <p:nvPr/>
        </p:nvSpPr>
        <p:spPr>
          <a:xfrm>
            <a:off x="822960" y="1417320"/>
            <a:ext cx="6400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B84D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B84D"/>
                </a:solidFill>
                <a:latin typeface="Calibri"/>
                <a:ea typeface="Calibri"/>
                <a:cs typeface="Calibri"/>
                <a:sym typeface="Calibri"/>
              </a:rPr>
              <a:t>PRODUCT CONCEPT  ·  2026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822960" y="1828800"/>
            <a:ext cx="676656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69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00"/>
              <a:buFont typeface="Cambria"/>
              <a:buNone/>
            </a:pPr>
            <a:r>
              <a:rPr b="1" i="0" lang="en-US" sz="64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FlowZapp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822960" y="3794760"/>
            <a:ext cx="65836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BFD9DA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BFD9DA"/>
                </a:solidFill>
                <a:latin typeface="Calibri"/>
                <a:ea typeface="Calibri"/>
                <a:cs typeface="Calibri"/>
                <a:sym typeface="Calibri"/>
              </a:rPr>
              <a:t>One searchable source of truth for every process, policy and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BFD9DA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BFD9DA"/>
                </a:solidFill>
                <a:latin typeface="Calibri"/>
                <a:ea typeface="Calibri"/>
                <a:cs typeface="Calibri"/>
                <a:sym typeface="Calibri"/>
              </a:rPr>
              <a:t>playbook — built automatically from the work you already do.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822960" y="4983480"/>
            <a:ext cx="69494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Screen recording  →  AI-drafted SOP  →  Approved, searchable, answerable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8092440" y="1417320"/>
            <a:ext cx="3200400" cy="1005840"/>
          </a:xfrm>
          <a:prstGeom prst="roundRect">
            <a:avLst>
              <a:gd fmla="val 10909" name="adj"/>
            </a:avLst>
          </a:prstGeom>
          <a:solidFill>
            <a:srgbClr val="0A4A5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" name="Google Shape;23;p1"/>
          <p:cNvSpPr/>
          <p:nvPr/>
        </p:nvSpPr>
        <p:spPr>
          <a:xfrm>
            <a:off x="8321040" y="1673352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4" name="Google Shape;24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458200" y="1810512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5;p1"/>
          <p:cNvSpPr/>
          <p:nvPr/>
        </p:nvSpPr>
        <p:spPr>
          <a:xfrm>
            <a:off x="8961120" y="1636776"/>
            <a:ext cx="21945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Employee Handbook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8961120" y="1947672"/>
            <a:ext cx="2194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C4C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FC4C6"/>
                </a:solidFill>
                <a:latin typeface="Calibri"/>
                <a:ea typeface="Calibri"/>
                <a:cs typeface="Calibri"/>
                <a:sym typeface="Calibri"/>
              </a:rPr>
              <a:t>Approved · Auto-indexed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8092440" y="2788920"/>
            <a:ext cx="3566160" cy="1005840"/>
          </a:xfrm>
          <a:prstGeom prst="roundRect">
            <a:avLst>
              <a:gd fmla="val 10909" name="adj"/>
            </a:avLst>
          </a:prstGeom>
          <a:solidFill>
            <a:srgbClr val="0D5A6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p1"/>
          <p:cNvSpPr/>
          <p:nvPr/>
        </p:nvSpPr>
        <p:spPr>
          <a:xfrm>
            <a:off x="8321040" y="3044952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9" name="Google Shape;29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458200" y="3182112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1"/>
          <p:cNvSpPr/>
          <p:nvPr/>
        </p:nvSpPr>
        <p:spPr>
          <a:xfrm>
            <a:off x="8961120" y="3008376"/>
            <a:ext cx="25603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Onboarding SOP v4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1"/>
          <p:cNvSpPr/>
          <p:nvPr/>
        </p:nvSpPr>
        <p:spPr>
          <a:xfrm>
            <a:off x="8961120" y="3319272"/>
            <a:ext cx="25603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C4C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FC4C6"/>
                </a:solidFill>
                <a:latin typeface="Calibri"/>
                <a:ea typeface="Calibri"/>
                <a:cs typeface="Calibri"/>
                <a:sym typeface="Calibri"/>
              </a:rPr>
              <a:t>Approved · Auto-indexed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1"/>
          <p:cNvSpPr/>
          <p:nvPr/>
        </p:nvSpPr>
        <p:spPr>
          <a:xfrm>
            <a:off x="8092440" y="4160520"/>
            <a:ext cx="3200400" cy="1005840"/>
          </a:xfrm>
          <a:prstGeom prst="roundRect">
            <a:avLst>
              <a:gd fmla="val 10909" name="adj"/>
            </a:avLst>
          </a:prstGeom>
          <a:solidFill>
            <a:srgbClr val="0A4A5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1"/>
          <p:cNvSpPr/>
          <p:nvPr/>
        </p:nvSpPr>
        <p:spPr>
          <a:xfrm>
            <a:off x="8321040" y="4416552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4" name="Google Shape;34;p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458200" y="4553712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35;p1"/>
          <p:cNvSpPr/>
          <p:nvPr/>
        </p:nvSpPr>
        <p:spPr>
          <a:xfrm>
            <a:off x="8961120" y="4379976"/>
            <a:ext cx="21945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Refund Policy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1"/>
          <p:cNvSpPr/>
          <p:nvPr/>
        </p:nvSpPr>
        <p:spPr>
          <a:xfrm>
            <a:off x="8961120" y="4690872"/>
            <a:ext cx="2194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C4C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FC4C6"/>
                </a:solidFill>
                <a:latin typeface="Calibri"/>
                <a:ea typeface="Calibri"/>
                <a:cs typeface="Calibri"/>
                <a:sym typeface="Calibri"/>
              </a:rPr>
              <a:t>Approved · Auto-indexed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"/>
          <p:cNvSpPr/>
          <p:nvPr/>
        </p:nvSpPr>
        <p:spPr>
          <a:xfrm>
            <a:off x="640080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THE PROBLEM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72B"/>
              </a:buClr>
              <a:buSzPts val="3600"/>
              <a:buFont typeface="Cambria"/>
              <a:buNone/>
            </a:pPr>
            <a:r>
              <a:rPr b="1" i="0" lang="en-US" sz="3600" u="none" cap="none" strike="noStrike">
                <a:solidFill>
                  <a:srgbClr val="13272B"/>
                </a:solidFill>
                <a:latin typeface="Cambria"/>
                <a:ea typeface="Cambria"/>
                <a:cs typeface="Cambria"/>
                <a:sym typeface="Cambria"/>
              </a:rPr>
              <a:t>Knowledge is everywhere. Answers are nowhere.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2"/>
          <p:cNvSpPr/>
          <p:nvPr/>
        </p:nvSpPr>
        <p:spPr>
          <a:xfrm>
            <a:off x="640080" y="1371600"/>
            <a:ext cx="58521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1724"/>
              </a:lnSpc>
              <a:spcBef>
                <a:spcPts val="0"/>
              </a:spcBef>
              <a:spcAft>
                <a:spcPts val="0"/>
              </a:spcAft>
              <a:buClr>
                <a:srgbClr val="5B6B6E"/>
              </a:buClr>
              <a:buSzPts val="1450"/>
              <a:buFont typeface="Calibri"/>
              <a:buNone/>
            </a:pPr>
            <a:r>
              <a:rPr b="0" i="0" lang="en-US" sz="1450" u="none" cap="none" strike="noStrike">
                <a:solidFill>
                  <a:srgbClr val="5B6B6E"/>
                </a:solidFill>
                <a:latin typeface="Calibri"/>
                <a:ea typeface="Calibri"/>
                <a:cs typeface="Calibri"/>
                <a:sym typeface="Calibri"/>
              </a:rPr>
              <a:t>Documentation is scattered across tools that were never designed to work together — so the person who needs the answer either interrupts someone, or guesses.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2"/>
          <p:cNvSpPr/>
          <p:nvPr/>
        </p:nvSpPr>
        <p:spPr>
          <a:xfrm>
            <a:off x="640080" y="2377440"/>
            <a:ext cx="2743200" cy="1188720"/>
          </a:xfrm>
          <a:prstGeom prst="roundRect">
            <a:avLst>
              <a:gd fmla="val 10769" name="adj"/>
            </a:avLst>
          </a:prstGeom>
          <a:solidFill>
            <a:srgbClr val="EDF5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41248" y="2578608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7" name="Google Shape;4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69264" y="2706624"/>
            <a:ext cx="219456" cy="219456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2"/>
          <p:cNvSpPr/>
          <p:nvPr/>
        </p:nvSpPr>
        <p:spPr>
          <a:xfrm>
            <a:off x="1417320" y="2596896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72B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13272B"/>
                </a:solidFill>
                <a:latin typeface="Calibri"/>
                <a:ea typeface="Calibri"/>
                <a:cs typeface="Calibri"/>
                <a:sym typeface="Calibri"/>
              </a:rPr>
              <a:t>Google Docs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2"/>
          <p:cNvSpPr/>
          <p:nvPr/>
        </p:nvSpPr>
        <p:spPr>
          <a:xfrm>
            <a:off x="1417320" y="2907792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809"/>
              </a:lnSpc>
              <a:spcBef>
                <a:spcPts val="0"/>
              </a:spcBef>
              <a:spcAft>
                <a:spcPts val="0"/>
              </a:spcAft>
              <a:buClr>
                <a:srgbClr val="5B6B6E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B6B6E"/>
                </a:solidFill>
                <a:latin typeface="Calibri"/>
                <a:ea typeface="Calibri"/>
                <a:cs typeface="Calibri"/>
                <a:sym typeface="Calibri"/>
              </a:rPr>
              <a:t>Sprawling, unversioned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2"/>
          <p:cNvSpPr/>
          <p:nvPr/>
        </p:nvSpPr>
        <p:spPr>
          <a:xfrm>
            <a:off x="3611880" y="2377440"/>
            <a:ext cx="2743200" cy="1188720"/>
          </a:xfrm>
          <a:prstGeom prst="roundRect">
            <a:avLst>
              <a:gd fmla="val 10769" name="adj"/>
            </a:avLst>
          </a:prstGeom>
          <a:solidFill>
            <a:srgbClr val="EDF5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2"/>
          <p:cNvSpPr/>
          <p:nvPr/>
        </p:nvSpPr>
        <p:spPr>
          <a:xfrm>
            <a:off x="3813048" y="2578608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2" name="Google Shape;52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941064" y="2706624"/>
            <a:ext cx="219456" cy="219456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"/>
          <p:cNvSpPr/>
          <p:nvPr/>
        </p:nvSpPr>
        <p:spPr>
          <a:xfrm>
            <a:off x="4389120" y="2596896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72B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13272B"/>
                </a:solidFill>
                <a:latin typeface="Calibri"/>
                <a:ea typeface="Calibri"/>
                <a:cs typeface="Calibri"/>
                <a:sym typeface="Calibri"/>
              </a:rPr>
              <a:t>Notion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2"/>
          <p:cNvSpPr/>
          <p:nvPr/>
        </p:nvSpPr>
        <p:spPr>
          <a:xfrm>
            <a:off x="4389120" y="2907792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809"/>
              </a:lnSpc>
              <a:spcBef>
                <a:spcPts val="0"/>
              </a:spcBef>
              <a:spcAft>
                <a:spcPts val="0"/>
              </a:spcAft>
              <a:buClr>
                <a:srgbClr val="5B6B6E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B6B6E"/>
                </a:solidFill>
                <a:latin typeface="Calibri"/>
                <a:ea typeface="Calibri"/>
                <a:cs typeface="Calibri"/>
                <a:sym typeface="Calibri"/>
              </a:rPr>
              <a:t>Half-migrated, half-abandoned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2"/>
          <p:cNvSpPr/>
          <p:nvPr/>
        </p:nvSpPr>
        <p:spPr>
          <a:xfrm>
            <a:off x="640080" y="3794760"/>
            <a:ext cx="2743200" cy="1188720"/>
          </a:xfrm>
          <a:prstGeom prst="roundRect">
            <a:avLst>
              <a:gd fmla="val 10769" name="adj"/>
            </a:avLst>
          </a:prstGeom>
          <a:solidFill>
            <a:srgbClr val="EDF5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2"/>
          <p:cNvSpPr/>
          <p:nvPr/>
        </p:nvSpPr>
        <p:spPr>
          <a:xfrm>
            <a:off x="841248" y="3995928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7" name="Google Shape;57;p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69264" y="4123944"/>
            <a:ext cx="219456" cy="219456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2"/>
          <p:cNvSpPr/>
          <p:nvPr/>
        </p:nvSpPr>
        <p:spPr>
          <a:xfrm>
            <a:off x="1417320" y="4014216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72B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13272B"/>
                </a:solidFill>
                <a:latin typeface="Calibri"/>
                <a:ea typeface="Calibri"/>
                <a:cs typeface="Calibri"/>
                <a:sym typeface="Calibri"/>
              </a:rPr>
              <a:t>PDFs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2"/>
          <p:cNvSpPr/>
          <p:nvPr/>
        </p:nvSpPr>
        <p:spPr>
          <a:xfrm>
            <a:off x="1417320" y="4325112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809"/>
              </a:lnSpc>
              <a:spcBef>
                <a:spcPts val="0"/>
              </a:spcBef>
              <a:spcAft>
                <a:spcPts val="0"/>
              </a:spcAft>
              <a:buClr>
                <a:srgbClr val="5B6B6E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B6B6E"/>
                </a:solidFill>
                <a:latin typeface="Calibri"/>
                <a:ea typeface="Calibri"/>
                <a:cs typeface="Calibri"/>
                <a:sym typeface="Calibri"/>
              </a:rPr>
              <a:t>Unsearchable, out of date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2"/>
          <p:cNvSpPr/>
          <p:nvPr/>
        </p:nvSpPr>
        <p:spPr>
          <a:xfrm>
            <a:off x="3611880" y="3794760"/>
            <a:ext cx="2743200" cy="1188720"/>
          </a:xfrm>
          <a:prstGeom prst="roundRect">
            <a:avLst>
              <a:gd fmla="val 10769" name="adj"/>
            </a:avLst>
          </a:prstGeom>
          <a:solidFill>
            <a:srgbClr val="EDF5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2"/>
          <p:cNvSpPr/>
          <p:nvPr/>
        </p:nvSpPr>
        <p:spPr>
          <a:xfrm>
            <a:off x="3813048" y="3995928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62" name="Google Shape;62;p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941064" y="4123944"/>
            <a:ext cx="219456" cy="219456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2"/>
          <p:cNvSpPr/>
          <p:nvPr/>
        </p:nvSpPr>
        <p:spPr>
          <a:xfrm>
            <a:off x="4389120" y="4014216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72B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13272B"/>
                </a:solidFill>
                <a:latin typeface="Calibri"/>
                <a:ea typeface="Calibri"/>
                <a:cs typeface="Calibri"/>
                <a:sym typeface="Calibri"/>
              </a:rPr>
              <a:t>Email &amp; chat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2"/>
          <p:cNvSpPr/>
          <p:nvPr/>
        </p:nvSpPr>
        <p:spPr>
          <a:xfrm>
            <a:off x="4389120" y="4325112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809"/>
              </a:lnSpc>
              <a:spcBef>
                <a:spcPts val="0"/>
              </a:spcBef>
              <a:spcAft>
                <a:spcPts val="0"/>
              </a:spcAft>
              <a:buClr>
                <a:srgbClr val="5B6B6E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B6B6E"/>
                </a:solidFill>
                <a:latin typeface="Calibri"/>
                <a:ea typeface="Calibri"/>
                <a:cs typeface="Calibri"/>
                <a:sym typeface="Calibri"/>
              </a:rPr>
              <a:t>Tribal knowledge, one inbox deep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2"/>
          <p:cNvSpPr/>
          <p:nvPr/>
        </p:nvSpPr>
        <p:spPr>
          <a:xfrm>
            <a:off x="640080" y="5440680"/>
            <a:ext cx="5852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250"/>
              <a:buFont typeface="Calibri"/>
              <a:buNone/>
            </a:pPr>
            <a:r>
              <a:rPr b="0" i="1" lang="en-US" sz="125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Four tools. Four search boxes. No owner, no version, no answer.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2"/>
          <p:cNvSpPr/>
          <p:nvPr/>
        </p:nvSpPr>
        <p:spPr>
          <a:xfrm>
            <a:off x="6949440" y="1371600"/>
            <a:ext cx="4572000" cy="4754880"/>
          </a:xfrm>
          <a:prstGeom prst="roundRect">
            <a:avLst>
              <a:gd fmla="val 2800" name="adj"/>
            </a:avLst>
          </a:prstGeom>
          <a:solidFill>
            <a:srgbClr val="04353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2"/>
          <p:cNvSpPr/>
          <p:nvPr/>
        </p:nvSpPr>
        <p:spPr>
          <a:xfrm>
            <a:off x="7315200" y="1691640"/>
            <a:ext cx="3840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B84D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B84D"/>
                </a:solidFill>
                <a:latin typeface="Calibri"/>
                <a:ea typeface="Calibri"/>
                <a:cs typeface="Calibri"/>
                <a:sym typeface="Calibri"/>
              </a:rPr>
              <a:t>What it costs you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2"/>
          <p:cNvSpPr/>
          <p:nvPr/>
        </p:nvSpPr>
        <p:spPr>
          <a:xfrm>
            <a:off x="7315200" y="2304288"/>
            <a:ext cx="118872" cy="118872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2"/>
          <p:cNvSpPr/>
          <p:nvPr/>
        </p:nvSpPr>
        <p:spPr>
          <a:xfrm>
            <a:off x="7589520" y="2194560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Repeat questions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2"/>
          <p:cNvSpPr/>
          <p:nvPr/>
        </p:nvSpPr>
        <p:spPr>
          <a:xfrm>
            <a:off x="7589520" y="2478024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9C7C9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A9C7C9"/>
                </a:solidFill>
                <a:latin typeface="Calibri"/>
                <a:ea typeface="Calibri"/>
                <a:cs typeface="Calibri"/>
                <a:sym typeface="Calibri"/>
              </a:rPr>
              <a:t>Senior staff answer the same thing weekly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2"/>
          <p:cNvSpPr/>
          <p:nvPr/>
        </p:nvSpPr>
        <p:spPr>
          <a:xfrm>
            <a:off x="7315200" y="3090672"/>
            <a:ext cx="118872" cy="118872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2"/>
          <p:cNvSpPr/>
          <p:nvPr/>
        </p:nvSpPr>
        <p:spPr>
          <a:xfrm>
            <a:off x="7589520" y="2980944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Slow onboarding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2"/>
          <p:cNvSpPr/>
          <p:nvPr/>
        </p:nvSpPr>
        <p:spPr>
          <a:xfrm>
            <a:off x="7589520" y="3264408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9C7C9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A9C7C9"/>
                </a:solidFill>
                <a:latin typeface="Calibri"/>
                <a:ea typeface="Calibri"/>
                <a:cs typeface="Calibri"/>
                <a:sym typeface="Calibri"/>
              </a:rPr>
              <a:t>New hires shadow instead of self-serve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2"/>
          <p:cNvSpPr/>
          <p:nvPr/>
        </p:nvSpPr>
        <p:spPr>
          <a:xfrm>
            <a:off x="7315200" y="3877056"/>
            <a:ext cx="118872" cy="118872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2"/>
          <p:cNvSpPr/>
          <p:nvPr/>
        </p:nvSpPr>
        <p:spPr>
          <a:xfrm>
            <a:off x="7589520" y="3767328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Process drift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2"/>
          <p:cNvSpPr/>
          <p:nvPr/>
        </p:nvSpPr>
        <p:spPr>
          <a:xfrm>
            <a:off x="7589520" y="4050792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9C7C9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A9C7C9"/>
                </a:solidFill>
                <a:latin typeface="Calibri"/>
                <a:ea typeface="Calibri"/>
                <a:cs typeface="Calibri"/>
                <a:sym typeface="Calibri"/>
              </a:rPr>
              <a:t>Two teams, two versions, no owner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2"/>
          <p:cNvSpPr/>
          <p:nvPr/>
        </p:nvSpPr>
        <p:spPr>
          <a:xfrm>
            <a:off x="7315200" y="4663440"/>
            <a:ext cx="118872" cy="118872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2"/>
          <p:cNvSpPr/>
          <p:nvPr/>
        </p:nvSpPr>
        <p:spPr>
          <a:xfrm>
            <a:off x="7589520" y="4553712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Audit exposure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2"/>
          <p:cNvSpPr/>
          <p:nvPr/>
        </p:nvSpPr>
        <p:spPr>
          <a:xfrm>
            <a:off x="7589520" y="4837176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9C7C9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A9C7C9"/>
                </a:solidFill>
                <a:latin typeface="Calibri"/>
                <a:ea typeface="Calibri"/>
                <a:cs typeface="Calibri"/>
                <a:sym typeface="Calibri"/>
              </a:rPr>
              <a:t>No approval trail, no version history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2"/>
          <p:cNvSpPr/>
          <p:nvPr/>
        </p:nvSpPr>
        <p:spPr>
          <a:xfrm>
            <a:off x="7315200" y="5449824"/>
            <a:ext cx="118872" cy="118872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2"/>
          <p:cNvSpPr/>
          <p:nvPr/>
        </p:nvSpPr>
        <p:spPr>
          <a:xfrm>
            <a:off x="7589520" y="5340096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Knowledge walks out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2"/>
          <p:cNvSpPr/>
          <p:nvPr/>
        </p:nvSpPr>
        <p:spPr>
          <a:xfrm>
            <a:off x="7589520" y="5623560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9C7C9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A9C7C9"/>
                </a:solidFill>
                <a:latin typeface="Calibri"/>
                <a:ea typeface="Calibri"/>
                <a:cs typeface="Calibri"/>
                <a:sym typeface="Calibri"/>
              </a:rPr>
              <a:t>One resignation erases a process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3"/>
          <p:cNvSpPr/>
          <p:nvPr/>
        </p:nvSpPr>
        <p:spPr>
          <a:xfrm>
            <a:off x="640080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THE SOLUTION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3"/>
          <p:cNvSpPr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72B"/>
              </a:buClr>
              <a:buSzPts val="3600"/>
              <a:buFont typeface="Cambria"/>
              <a:buNone/>
            </a:pPr>
            <a:r>
              <a:rPr b="1" i="0" lang="en-US" sz="3600" u="none" cap="none" strike="noStrike">
                <a:solidFill>
                  <a:srgbClr val="13272B"/>
                </a:solidFill>
                <a:latin typeface="Cambria"/>
                <a:ea typeface="Cambria"/>
                <a:cs typeface="Cambria"/>
                <a:sym typeface="Cambria"/>
              </a:rPr>
              <a:t>Capture once. Answer forever.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3"/>
          <p:cNvSpPr/>
          <p:nvPr/>
        </p:nvSpPr>
        <p:spPr>
          <a:xfrm>
            <a:off x="640080" y="1371600"/>
            <a:ext cx="85953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6666"/>
              </a:lnSpc>
              <a:spcBef>
                <a:spcPts val="0"/>
              </a:spcBef>
              <a:spcAft>
                <a:spcPts val="0"/>
              </a:spcAft>
              <a:buClr>
                <a:srgbClr val="5B6B6E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5B6B6E"/>
                </a:solidFill>
                <a:latin typeface="Calibri"/>
                <a:ea typeface="Calibri"/>
                <a:cs typeface="Calibri"/>
                <a:sym typeface="Calibri"/>
              </a:rPr>
              <a:t>A knowledge platform where documentation writes itself from real work, gets approved by the right owner, and answers questions in plain language.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3"/>
          <p:cNvSpPr/>
          <p:nvPr/>
        </p:nvSpPr>
        <p:spPr>
          <a:xfrm>
            <a:off x="640080" y="2331720"/>
            <a:ext cx="3474720" cy="3246120"/>
          </a:xfrm>
          <a:prstGeom prst="roundRect">
            <a:avLst>
              <a:gd fmla="val 3944" name="adj"/>
            </a:avLst>
          </a:prstGeom>
          <a:solidFill>
            <a:srgbClr val="EDF5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3"/>
          <p:cNvSpPr/>
          <p:nvPr/>
        </p:nvSpPr>
        <p:spPr>
          <a:xfrm>
            <a:off x="960120" y="2697480"/>
            <a:ext cx="777240" cy="77724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93" name="Google Shape;9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79576" y="2916936"/>
            <a:ext cx="338328" cy="338328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3"/>
          <p:cNvSpPr/>
          <p:nvPr/>
        </p:nvSpPr>
        <p:spPr>
          <a:xfrm>
            <a:off x="3246120" y="2697480"/>
            <a:ext cx="640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4DCDA"/>
              </a:buClr>
              <a:buSzPts val="2600"/>
              <a:buFont typeface="Cambria"/>
              <a:buNone/>
            </a:pPr>
            <a:r>
              <a:rPr b="1" i="0" lang="en-US" sz="2600" u="none" cap="none" strike="noStrike">
                <a:solidFill>
                  <a:srgbClr val="C4DCDA"/>
                </a:solidFill>
                <a:latin typeface="Cambria"/>
                <a:ea typeface="Cambria"/>
                <a:cs typeface="Cambria"/>
                <a:sym typeface="Cambria"/>
              </a:rPr>
              <a:t>01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3"/>
          <p:cNvSpPr/>
          <p:nvPr/>
        </p:nvSpPr>
        <p:spPr>
          <a:xfrm>
            <a:off x="960120" y="3703320"/>
            <a:ext cx="28346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72B"/>
              </a:buClr>
              <a:buSzPts val="1700"/>
              <a:buFont typeface="Calibri"/>
              <a:buNone/>
            </a:pPr>
            <a:r>
              <a:rPr b="1" i="0" lang="en-US" sz="1700" u="none" cap="none" strike="noStrike">
                <a:solidFill>
                  <a:srgbClr val="13272B"/>
                </a:solidFill>
                <a:latin typeface="Calibri"/>
                <a:ea typeface="Calibri"/>
                <a:cs typeface="Calibri"/>
                <a:sym typeface="Calibri"/>
              </a:rPr>
              <a:t>Create without writing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3"/>
          <p:cNvSpPr/>
          <p:nvPr/>
        </p:nvSpPr>
        <p:spPr>
          <a:xfrm>
            <a:off x="960120" y="4206240"/>
            <a:ext cx="283464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Clr>
                <a:srgbClr val="5B6B6E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B6B6E"/>
                </a:solidFill>
                <a:latin typeface="Calibri"/>
                <a:ea typeface="Calibri"/>
                <a:cs typeface="Calibri"/>
                <a:sym typeface="Calibri"/>
              </a:rPr>
              <a:t>Record a screen walkthrough. AI turns it into a structured, step-by-step SOP with headings, screenshots and checkpoints.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3"/>
          <p:cNvSpPr/>
          <p:nvPr/>
        </p:nvSpPr>
        <p:spPr>
          <a:xfrm>
            <a:off x="4389120" y="2331720"/>
            <a:ext cx="3474720" cy="3246120"/>
          </a:xfrm>
          <a:prstGeom prst="roundRect">
            <a:avLst>
              <a:gd fmla="val 3944" name="adj"/>
            </a:avLst>
          </a:prstGeom>
          <a:solidFill>
            <a:srgbClr val="EDF5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3"/>
          <p:cNvSpPr/>
          <p:nvPr/>
        </p:nvSpPr>
        <p:spPr>
          <a:xfrm>
            <a:off x="4709160" y="2697480"/>
            <a:ext cx="777240" cy="777240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99" name="Google Shape;99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928616" y="2916936"/>
            <a:ext cx="338328" cy="338328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3"/>
          <p:cNvSpPr/>
          <p:nvPr/>
        </p:nvSpPr>
        <p:spPr>
          <a:xfrm>
            <a:off x="6995160" y="2697480"/>
            <a:ext cx="640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4DCDA"/>
              </a:buClr>
              <a:buSzPts val="2600"/>
              <a:buFont typeface="Cambria"/>
              <a:buNone/>
            </a:pPr>
            <a:r>
              <a:rPr b="1" i="0" lang="en-US" sz="2600" u="none" cap="none" strike="noStrike">
                <a:solidFill>
                  <a:srgbClr val="C4DCDA"/>
                </a:solidFill>
                <a:latin typeface="Cambria"/>
                <a:ea typeface="Cambria"/>
                <a:cs typeface="Cambria"/>
                <a:sym typeface="Cambria"/>
              </a:rPr>
              <a:t>02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3"/>
          <p:cNvSpPr/>
          <p:nvPr/>
        </p:nvSpPr>
        <p:spPr>
          <a:xfrm>
            <a:off x="4709160" y="3703320"/>
            <a:ext cx="28346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72B"/>
              </a:buClr>
              <a:buSzPts val="1700"/>
              <a:buFont typeface="Calibri"/>
              <a:buNone/>
            </a:pPr>
            <a:r>
              <a:rPr b="1" i="0" lang="en-US" sz="1700" u="none" cap="none" strike="noStrike">
                <a:solidFill>
                  <a:srgbClr val="13272B"/>
                </a:solidFill>
                <a:latin typeface="Calibri"/>
                <a:ea typeface="Calibri"/>
                <a:cs typeface="Calibri"/>
                <a:sym typeface="Calibri"/>
              </a:rPr>
              <a:t>Govern with confidence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3"/>
          <p:cNvSpPr/>
          <p:nvPr/>
        </p:nvSpPr>
        <p:spPr>
          <a:xfrm>
            <a:off x="4709160" y="4206240"/>
            <a:ext cx="283464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Clr>
                <a:srgbClr val="5B6B6E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B6B6E"/>
                </a:solidFill>
                <a:latin typeface="Calibri"/>
                <a:ea typeface="Calibri"/>
                <a:cs typeface="Calibri"/>
                <a:sym typeface="Calibri"/>
              </a:rPr>
              <a:t>Folders, roles, approval workflow and full version history — so every document has an owner, a reviewer and a trail.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3"/>
          <p:cNvSpPr/>
          <p:nvPr/>
        </p:nvSpPr>
        <p:spPr>
          <a:xfrm>
            <a:off x="8138160" y="2331720"/>
            <a:ext cx="3474720" cy="3246120"/>
          </a:xfrm>
          <a:prstGeom prst="roundRect">
            <a:avLst>
              <a:gd fmla="val 3944" name="adj"/>
            </a:avLst>
          </a:prstGeom>
          <a:solidFill>
            <a:srgbClr val="EDF5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3"/>
          <p:cNvSpPr/>
          <p:nvPr/>
        </p:nvSpPr>
        <p:spPr>
          <a:xfrm>
            <a:off x="8458200" y="2697480"/>
            <a:ext cx="777240" cy="777240"/>
          </a:xfrm>
          <a:prstGeom prst="ellipse">
            <a:avLst/>
          </a:prstGeom>
          <a:solidFill>
            <a:srgbClr val="FFB84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05" name="Google Shape;105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677656" y="2916936"/>
            <a:ext cx="338328" cy="338328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3"/>
          <p:cNvSpPr/>
          <p:nvPr/>
        </p:nvSpPr>
        <p:spPr>
          <a:xfrm>
            <a:off x="10744200" y="2697480"/>
            <a:ext cx="640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4DCDA"/>
              </a:buClr>
              <a:buSzPts val="2600"/>
              <a:buFont typeface="Cambria"/>
              <a:buNone/>
            </a:pPr>
            <a:r>
              <a:rPr b="1" i="0" lang="en-US" sz="2600" u="none" cap="none" strike="noStrike">
                <a:solidFill>
                  <a:srgbClr val="C4DCDA"/>
                </a:solidFill>
                <a:latin typeface="Cambria"/>
                <a:ea typeface="Cambria"/>
                <a:cs typeface="Cambria"/>
                <a:sym typeface="Cambria"/>
              </a:rPr>
              <a:t>03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3"/>
          <p:cNvSpPr/>
          <p:nvPr/>
        </p:nvSpPr>
        <p:spPr>
          <a:xfrm>
            <a:off x="8458200" y="3703320"/>
            <a:ext cx="28346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72B"/>
              </a:buClr>
              <a:buSzPts val="1700"/>
              <a:buFont typeface="Calibri"/>
              <a:buNone/>
            </a:pPr>
            <a:r>
              <a:rPr b="1" i="0" lang="en-US" sz="1700" u="none" cap="none" strike="noStrike">
                <a:solidFill>
                  <a:srgbClr val="13272B"/>
                </a:solidFill>
                <a:latin typeface="Calibri"/>
                <a:ea typeface="Calibri"/>
                <a:cs typeface="Calibri"/>
                <a:sym typeface="Calibri"/>
              </a:rPr>
              <a:t>Retrieve in seconds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3"/>
          <p:cNvSpPr/>
          <p:nvPr/>
        </p:nvSpPr>
        <p:spPr>
          <a:xfrm>
            <a:off x="8458200" y="4206240"/>
            <a:ext cx="283464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Clr>
                <a:srgbClr val="5B6B6E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B6B6E"/>
                </a:solidFill>
                <a:latin typeface="Calibri"/>
                <a:ea typeface="Calibri"/>
                <a:cs typeface="Calibri"/>
                <a:sym typeface="Calibri"/>
              </a:rPr>
              <a:t>A chatbot that answers only from your approved documents — instantly, with citations back to the source SOP.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3"/>
          <p:cNvSpPr/>
          <p:nvPr/>
        </p:nvSpPr>
        <p:spPr>
          <a:xfrm>
            <a:off x="640080" y="5897880"/>
            <a:ext cx="10881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250"/>
              <a:buFont typeface="Calibri"/>
              <a:buNone/>
            </a:pPr>
            <a:r>
              <a:rPr b="0" i="1" lang="en-US" sz="125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The loop: work → recording → draft SOP → approval → searchable answer → better work.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4"/>
          <p:cNvSpPr/>
          <p:nvPr/>
        </p:nvSpPr>
        <p:spPr>
          <a:xfrm>
            <a:off x="640080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HOW IT WORKS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4"/>
          <p:cNvSpPr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72B"/>
              </a:buClr>
              <a:buSzPts val="3600"/>
              <a:buFont typeface="Cambria"/>
              <a:buNone/>
            </a:pPr>
            <a:r>
              <a:rPr b="1" i="0" lang="en-US" sz="3600" u="none" cap="none" strike="noStrike">
                <a:solidFill>
                  <a:srgbClr val="13272B"/>
                </a:solidFill>
                <a:latin typeface="Cambria"/>
                <a:ea typeface="Cambria"/>
                <a:cs typeface="Cambria"/>
                <a:sym typeface="Cambria"/>
              </a:rPr>
              <a:t>From a screen recording to an approved SOP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4"/>
          <p:cNvSpPr/>
          <p:nvPr/>
        </p:nvSpPr>
        <p:spPr>
          <a:xfrm>
            <a:off x="640080" y="1874520"/>
            <a:ext cx="2057400" cy="3291840"/>
          </a:xfrm>
          <a:prstGeom prst="roundRect">
            <a:avLst>
              <a:gd fmla="val 6222" name="adj"/>
            </a:avLst>
          </a:prstGeom>
          <a:solidFill>
            <a:srgbClr val="EDF5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"/>
          <p:cNvSpPr/>
          <p:nvPr/>
        </p:nvSpPr>
        <p:spPr>
          <a:xfrm>
            <a:off x="896112" y="2148840"/>
            <a:ext cx="566928" cy="566928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19" name="Google Shape;119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1560" y="2304288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4"/>
          <p:cNvSpPr/>
          <p:nvPr/>
        </p:nvSpPr>
        <p:spPr>
          <a:xfrm>
            <a:off x="1828800" y="2121408"/>
            <a:ext cx="640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9DEDC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C9DEDC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4"/>
          <p:cNvSpPr/>
          <p:nvPr/>
        </p:nvSpPr>
        <p:spPr>
          <a:xfrm>
            <a:off x="896112" y="2926080"/>
            <a:ext cx="1600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72B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13272B"/>
                </a:solidFill>
                <a:latin typeface="Calibri"/>
                <a:ea typeface="Calibri"/>
                <a:cs typeface="Calibri"/>
                <a:sym typeface="Calibri"/>
              </a:rPr>
              <a:t>Record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4"/>
          <p:cNvSpPr/>
          <p:nvPr/>
        </p:nvSpPr>
        <p:spPr>
          <a:xfrm>
            <a:off x="896112" y="3520440"/>
            <a:ext cx="16002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6363"/>
              </a:lnSpc>
              <a:spcBef>
                <a:spcPts val="0"/>
              </a:spcBef>
              <a:spcAft>
                <a:spcPts val="0"/>
              </a:spcAft>
              <a:buClr>
                <a:srgbClr val="5B6B6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B6B6E"/>
                </a:solidFill>
                <a:latin typeface="Calibri"/>
                <a:ea typeface="Calibri"/>
                <a:cs typeface="Calibri"/>
                <a:sym typeface="Calibri"/>
              </a:rPr>
              <a:t>An employee records the process once — screen and voice — and uploads it to the workspace.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4"/>
          <p:cNvSpPr/>
          <p:nvPr/>
        </p:nvSpPr>
        <p:spPr>
          <a:xfrm rot="5400000">
            <a:off x="2770632" y="3429000"/>
            <a:ext cx="146304" cy="182880"/>
          </a:xfrm>
          <a:prstGeom prst="triangle">
            <a:avLst>
              <a:gd fmla="val 50000" name="adj"/>
            </a:avLst>
          </a:prstGeom>
          <a:solidFill>
            <a:srgbClr val="FFB84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4"/>
          <p:cNvSpPr/>
          <p:nvPr/>
        </p:nvSpPr>
        <p:spPr>
          <a:xfrm>
            <a:off x="2907792" y="1874520"/>
            <a:ext cx="2057400" cy="3291840"/>
          </a:xfrm>
          <a:prstGeom prst="roundRect">
            <a:avLst>
              <a:gd fmla="val 6222" name="adj"/>
            </a:avLst>
          </a:prstGeom>
          <a:solidFill>
            <a:srgbClr val="EDF5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4"/>
          <p:cNvSpPr/>
          <p:nvPr/>
        </p:nvSpPr>
        <p:spPr>
          <a:xfrm>
            <a:off x="3163824" y="2148840"/>
            <a:ext cx="566928" cy="566928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26" name="Google Shape;126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319272" y="2304288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4"/>
          <p:cNvSpPr/>
          <p:nvPr/>
        </p:nvSpPr>
        <p:spPr>
          <a:xfrm>
            <a:off x="4096512" y="2121408"/>
            <a:ext cx="640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9DEDC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C9DEDC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4"/>
          <p:cNvSpPr/>
          <p:nvPr/>
        </p:nvSpPr>
        <p:spPr>
          <a:xfrm>
            <a:off x="3163824" y="2926080"/>
            <a:ext cx="1600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72B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13272B"/>
                </a:solidFill>
                <a:latin typeface="Calibri"/>
                <a:ea typeface="Calibri"/>
                <a:cs typeface="Calibri"/>
                <a:sym typeface="Calibri"/>
              </a:rPr>
              <a:t>Transcribe &amp; extract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4"/>
          <p:cNvSpPr/>
          <p:nvPr/>
        </p:nvSpPr>
        <p:spPr>
          <a:xfrm>
            <a:off x="3163824" y="3520440"/>
            <a:ext cx="16002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6363"/>
              </a:lnSpc>
              <a:spcBef>
                <a:spcPts val="0"/>
              </a:spcBef>
              <a:spcAft>
                <a:spcPts val="0"/>
              </a:spcAft>
              <a:buClr>
                <a:srgbClr val="5B6B6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B6B6E"/>
                </a:solidFill>
                <a:latin typeface="Calibri"/>
                <a:ea typeface="Calibri"/>
                <a:cs typeface="Calibri"/>
                <a:sym typeface="Calibri"/>
              </a:rPr>
              <a:t>AI transcribes the walkthrough, detects distinct actions and captures key frames as screenshots.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4"/>
          <p:cNvSpPr/>
          <p:nvPr/>
        </p:nvSpPr>
        <p:spPr>
          <a:xfrm rot="5400000">
            <a:off x="5038344" y="3429000"/>
            <a:ext cx="146304" cy="182880"/>
          </a:xfrm>
          <a:prstGeom prst="triangle">
            <a:avLst>
              <a:gd fmla="val 50000" name="adj"/>
            </a:avLst>
          </a:prstGeom>
          <a:solidFill>
            <a:srgbClr val="FFB84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4"/>
          <p:cNvSpPr/>
          <p:nvPr/>
        </p:nvSpPr>
        <p:spPr>
          <a:xfrm>
            <a:off x="5175504" y="1874520"/>
            <a:ext cx="2057400" cy="3291840"/>
          </a:xfrm>
          <a:prstGeom prst="roundRect">
            <a:avLst>
              <a:gd fmla="val 6222" name="adj"/>
            </a:avLst>
          </a:prstGeom>
          <a:solidFill>
            <a:srgbClr val="EDF5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4"/>
          <p:cNvSpPr/>
          <p:nvPr/>
        </p:nvSpPr>
        <p:spPr>
          <a:xfrm>
            <a:off x="5431536" y="2148840"/>
            <a:ext cx="566928" cy="566928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33" name="Google Shape;133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586984" y="2304288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4"/>
          <p:cNvSpPr/>
          <p:nvPr/>
        </p:nvSpPr>
        <p:spPr>
          <a:xfrm>
            <a:off x="6364224" y="2121408"/>
            <a:ext cx="640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9DEDC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C9DEDC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4"/>
          <p:cNvSpPr/>
          <p:nvPr/>
        </p:nvSpPr>
        <p:spPr>
          <a:xfrm>
            <a:off x="5431536" y="2926080"/>
            <a:ext cx="1600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72B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13272B"/>
                </a:solidFill>
                <a:latin typeface="Calibri"/>
                <a:ea typeface="Calibri"/>
                <a:cs typeface="Calibri"/>
                <a:sym typeface="Calibri"/>
              </a:rPr>
              <a:t>Draft the SOP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4"/>
          <p:cNvSpPr/>
          <p:nvPr/>
        </p:nvSpPr>
        <p:spPr>
          <a:xfrm>
            <a:off x="5431536" y="3520440"/>
            <a:ext cx="16002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6363"/>
              </a:lnSpc>
              <a:spcBef>
                <a:spcPts val="0"/>
              </a:spcBef>
              <a:spcAft>
                <a:spcPts val="0"/>
              </a:spcAft>
              <a:buClr>
                <a:srgbClr val="5B6B6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B6B6E"/>
                </a:solidFill>
                <a:latin typeface="Calibri"/>
                <a:ea typeface="Calibri"/>
                <a:cs typeface="Calibri"/>
                <a:sym typeface="Calibri"/>
              </a:rPr>
              <a:t>A structured document is generated: purpose, scope, numbered steps, warnings and outcomes.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4"/>
          <p:cNvSpPr/>
          <p:nvPr/>
        </p:nvSpPr>
        <p:spPr>
          <a:xfrm rot="5400000">
            <a:off x="7306056" y="3429000"/>
            <a:ext cx="146304" cy="182880"/>
          </a:xfrm>
          <a:prstGeom prst="triangle">
            <a:avLst>
              <a:gd fmla="val 50000" name="adj"/>
            </a:avLst>
          </a:prstGeom>
          <a:solidFill>
            <a:srgbClr val="FFB84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4"/>
          <p:cNvSpPr/>
          <p:nvPr/>
        </p:nvSpPr>
        <p:spPr>
          <a:xfrm>
            <a:off x="7443216" y="1874520"/>
            <a:ext cx="2057400" cy="3291840"/>
          </a:xfrm>
          <a:prstGeom prst="roundRect">
            <a:avLst>
              <a:gd fmla="val 6222" name="adj"/>
            </a:avLst>
          </a:prstGeom>
          <a:solidFill>
            <a:srgbClr val="EDF5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4"/>
          <p:cNvSpPr/>
          <p:nvPr/>
        </p:nvSpPr>
        <p:spPr>
          <a:xfrm>
            <a:off x="7699248" y="2148840"/>
            <a:ext cx="566928" cy="566928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40" name="Google Shape;140;p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854696" y="2304288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4"/>
          <p:cNvSpPr/>
          <p:nvPr/>
        </p:nvSpPr>
        <p:spPr>
          <a:xfrm>
            <a:off x="8631936" y="2121408"/>
            <a:ext cx="640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9DEDC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C9DEDC"/>
                </a:solidFill>
                <a:latin typeface="Cambria"/>
                <a:ea typeface="Cambria"/>
                <a:cs typeface="Cambria"/>
                <a:sym typeface="Cambria"/>
              </a:rPr>
              <a:t>4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4"/>
          <p:cNvSpPr/>
          <p:nvPr/>
        </p:nvSpPr>
        <p:spPr>
          <a:xfrm>
            <a:off x="7699248" y="2926080"/>
            <a:ext cx="1600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72B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13272B"/>
                </a:solidFill>
                <a:latin typeface="Calibri"/>
                <a:ea typeface="Calibri"/>
                <a:cs typeface="Calibri"/>
                <a:sym typeface="Calibri"/>
              </a:rPr>
              <a:t>Review &amp; approve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4"/>
          <p:cNvSpPr/>
          <p:nvPr/>
        </p:nvSpPr>
        <p:spPr>
          <a:xfrm>
            <a:off x="7699248" y="3520440"/>
            <a:ext cx="16002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6363"/>
              </a:lnSpc>
              <a:spcBef>
                <a:spcPts val="0"/>
              </a:spcBef>
              <a:spcAft>
                <a:spcPts val="0"/>
              </a:spcAft>
              <a:buClr>
                <a:srgbClr val="5B6B6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B6B6E"/>
                </a:solidFill>
                <a:latin typeface="Calibri"/>
                <a:ea typeface="Calibri"/>
                <a:cs typeface="Calibri"/>
                <a:sym typeface="Calibri"/>
              </a:rPr>
              <a:t>The process owner edits, approves and publishes. The version is stamped and indexed.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4"/>
          <p:cNvSpPr/>
          <p:nvPr/>
        </p:nvSpPr>
        <p:spPr>
          <a:xfrm rot="5400000">
            <a:off x="9573768" y="3429000"/>
            <a:ext cx="146304" cy="182880"/>
          </a:xfrm>
          <a:prstGeom prst="triangle">
            <a:avLst>
              <a:gd fmla="val 50000" name="adj"/>
            </a:avLst>
          </a:prstGeom>
          <a:solidFill>
            <a:srgbClr val="FFB84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4"/>
          <p:cNvSpPr/>
          <p:nvPr/>
        </p:nvSpPr>
        <p:spPr>
          <a:xfrm>
            <a:off x="9710928" y="1874520"/>
            <a:ext cx="2057400" cy="3291840"/>
          </a:xfrm>
          <a:prstGeom prst="roundRect">
            <a:avLst>
              <a:gd fmla="val 6222" name="adj"/>
            </a:avLst>
          </a:prstGeom>
          <a:solidFill>
            <a:srgbClr val="04353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4"/>
          <p:cNvSpPr/>
          <p:nvPr/>
        </p:nvSpPr>
        <p:spPr>
          <a:xfrm>
            <a:off x="9966960" y="2148840"/>
            <a:ext cx="566928" cy="566928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47" name="Google Shape;147;p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122408" y="2304288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4"/>
          <p:cNvSpPr/>
          <p:nvPr/>
        </p:nvSpPr>
        <p:spPr>
          <a:xfrm>
            <a:off x="10899648" y="2121408"/>
            <a:ext cx="640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E6C72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1E6C72"/>
                </a:solidFill>
                <a:latin typeface="Cambria"/>
                <a:ea typeface="Cambria"/>
                <a:cs typeface="Cambria"/>
                <a:sym typeface="Cambria"/>
              </a:rPr>
              <a:t>5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4"/>
          <p:cNvSpPr/>
          <p:nvPr/>
        </p:nvSpPr>
        <p:spPr>
          <a:xfrm>
            <a:off x="9966960" y="2926080"/>
            <a:ext cx="1600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Answer questions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4"/>
          <p:cNvSpPr/>
          <p:nvPr/>
        </p:nvSpPr>
        <p:spPr>
          <a:xfrm>
            <a:off x="9966960" y="3520440"/>
            <a:ext cx="16002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6363"/>
              </a:lnSpc>
              <a:spcBef>
                <a:spcPts val="0"/>
              </a:spcBef>
              <a:spcAft>
                <a:spcPts val="0"/>
              </a:spcAft>
              <a:buClr>
                <a:srgbClr val="A9C7C9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A9C7C9"/>
                </a:solidFill>
                <a:latin typeface="Calibri"/>
                <a:ea typeface="Calibri"/>
                <a:cs typeface="Calibri"/>
                <a:sym typeface="Calibri"/>
              </a:rPr>
              <a:t>The chatbot retrieves from approved content only, and cites the SOP it answered from.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4"/>
          <p:cNvSpPr/>
          <p:nvPr/>
        </p:nvSpPr>
        <p:spPr>
          <a:xfrm>
            <a:off x="640080" y="5532120"/>
            <a:ext cx="10881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250"/>
              <a:buFont typeface="Calibri"/>
              <a:buNone/>
            </a:pPr>
            <a:r>
              <a:rPr b="0" i="1" lang="en-US" sz="125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Every step above is where the product removes work a human is doing today.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5"/>
          <p:cNvSpPr/>
          <p:nvPr/>
        </p:nvSpPr>
        <p:spPr>
          <a:xfrm>
            <a:off x="640080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PLATFORM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5"/>
          <p:cNvSpPr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72B"/>
              </a:buClr>
              <a:buSzPts val="3600"/>
              <a:buFont typeface="Cambria"/>
              <a:buNone/>
            </a:pPr>
            <a:r>
              <a:rPr b="1" i="0" lang="en-US" sz="3600" u="none" cap="none" strike="noStrike">
                <a:solidFill>
                  <a:srgbClr val="13272B"/>
                </a:solidFill>
                <a:latin typeface="Cambria"/>
                <a:ea typeface="Cambria"/>
                <a:cs typeface="Cambria"/>
                <a:sym typeface="Cambria"/>
              </a:rPr>
              <a:t>Core features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5"/>
          <p:cNvSpPr/>
          <p:nvPr/>
        </p:nvSpPr>
        <p:spPr>
          <a:xfrm>
            <a:off x="640080" y="132588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6E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5B6B6E"/>
                </a:solidFill>
                <a:latin typeface="Calibri"/>
                <a:ea typeface="Calibri"/>
                <a:cs typeface="Calibri"/>
                <a:sym typeface="Calibri"/>
              </a:rPr>
              <a:t>Everything a team needs to write, organise, govern and find its documentation.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5"/>
          <p:cNvSpPr/>
          <p:nvPr/>
        </p:nvSpPr>
        <p:spPr>
          <a:xfrm>
            <a:off x="640080" y="1920240"/>
            <a:ext cx="2057400" cy="1828800"/>
          </a:xfrm>
          <a:prstGeom prst="roundRect">
            <a:avLst>
              <a:gd fmla="val 7000" name="adj"/>
            </a:avLst>
          </a:prstGeom>
          <a:solidFill>
            <a:srgbClr val="EDF5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5"/>
          <p:cNvSpPr/>
          <p:nvPr/>
        </p:nvSpPr>
        <p:spPr>
          <a:xfrm>
            <a:off x="868680" y="2139696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62" name="Google Shape;16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05840" y="2276856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5"/>
          <p:cNvSpPr/>
          <p:nvPr/>
        </p:nvSpPr>
        <p:spPr>
          <a:xfrm>
            <a:off x="868680" y="2761488"/>
            <a:ext cx="1645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518"/>
              </a:lnSpc>
              <a:spcBef>
                <a:spcPts val="0"/>
              </a:spcBef>
              <a:spcAft>
                <a:spcPts val="0"/>
              </a:spcAft>
              <a:buClr>
                <a:srgbClr val="13272B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13272B"/>
                </a:solidFill>
                <a:latin typeface="Calibri"/>
                <a:ea typeface="Calibri"/>
                <a:cs typeface="Calibri"/>
                <a:sym typeface="Calibri"/>
              </a:rPr>
              <a:t>SOP builder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5"/>
          <p:cNvSpPr/>
          <p:nvPr/>
        </p:nvSpPr>
        <p:spPr>
          <a:xfrm>
            <a:off x="868680" y="3218688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809"/>
              </a:lnSpc>
              <a:spcBef>
                <a:spcPts val="0"/>
              </a:spcBef>
              <a:spcAft>
                <a:spcPts val="0"/>
              </a:spcAft>
              <a:buClr>
                <a:srgbClr val="5B6B6E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B6B6E"/>
                </a:solidFill>
                <a:latin typeface="Calibri"/>
                <a:ea typeface="Calibri"/>
                <a:cs typeface="Calibri"/>
                <a:sym typeface="Calibri"/>
              </a:rPr>
              <a:t>Templated, step-based authoring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5"/>
          <p:cNvSpPr/>
          <p:nvPr/>
        </p:nvSpPr>
        <p:spPr>
          <a:xfrm>
            <a:off x="2907792" y="1920240"/>
            <a:ext cx="2057400" cy="1828800"/>
          </a:xfrm>
          <a:prstGeom prst="roundRect">
            <a:avLst>
              <a:gd fmla="val 7000" name="adj"/>
            </a:avLst>
          </a:prstGeom>
          <a:solidFill>
            <a:srgbClr val="EDF5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5"/>
          <p:cNvSpPr/>
          <p:nvPr/>
        </p:nvSpPr>
        <p:spPr>
          <a:xfrm>
            <a:off x="3136392" y="2139696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67" name="Google Shape;167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273552" y="2276856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5"/>
          <p:cNvSpPr/>
          <p:nvPr/>
        </p:nvSpPr>
        <p:spPr>
          <a:xfrm>
            <a:off x="3136392" y="2761488"/>
            <a:ext cx="1645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518"/>
              </a:lnSpc>
              <a:spcBef>
                <a:spcPts val="0"/>
              </a:spcBef>
              <a:spcAft>
                <a:spcPts val="0"/>
              </a:spcAft>
              <a:buClr>
                <a:srgbClr val="13272B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13272B"/>
                </a:solidFill>
                <a:latin typeface="Calibri"/>
                <a:ea typeface="Calibri"/>
                <a:cs typeface="Calibri"/>
                <a:sym typeface="Calibri"/>
              </a:rPr>
              <a:t>Rich text editor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5"/>
          <p:cNvSpPr/>
          <p:nvPr/>
        </p:nvSpPr>
        <p:spPr>
          <a:xfrm>
            <a:off x="3136392" y="3218688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809"/>
              </a:lnSpc>
              <a:spcBef>
                <a:spcPts val="0"/>
              </a:spcBef>
              <a:spcAft>
                <a:spcPts val="0"/>
              </a:spcAft>
              <a:buClr>
                <a:srgbClr val="5B6B6E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B6B6E"/>
                </a:solidFill>
                <a:latin typeface="Calibri"/>
                <a:ea typeface="Calibri"/>
                <a:cs typeface="Calibri"/>
                <a:sym typeface="Calibri"/>
              </a:rPr>
              <a:t>Blocks, tables, media, embeds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5"/>
          <p:cNvSpPr/>
          <p:nvPr/>
        </p:nvSpPr>
        <p:spPr>
          <a:xfrm>
            <a:off x="5175504" y="1920240"/>
            <a:ext cx="2057400" cy="1828800"/>
          </a:xfrm>
          <a:prstGeom prst="roundRect">
            <a:avLst>
              <a:gd fmla="val 7000" name="adj"/>
            </a:avLst>
          </a:prstGeom>
          <a:solidFill>
            <a:srgbClr val="EDF5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5"/>
          <p:cNvSpPr/>
          <p:nvPr/>
        </p:nvSpPr>
        <p:spPr>
          <a:xfrm>
            <a:off x="5404104" y="2139696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72" name="Google Shape;172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541264" y="2276856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5"/>
          <p:cNvSpPr/>
          <p:nvPr/>
        </p:nvSpPr>
        <p:spPr>
          <a:xfrm>
            <a:off x="5404104" y="2761488"/>
            <a:ext cx="1645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518"/>
              </a:lnSpc>
              <a:spcBef>
                <a:spcPts val="0"/>
              </a:spcBef>
              <a:spcAft>
                <a:spcPts val="0"/>
              </a:spcAft>
              <a:buClr>
                <a:srgbClr val="13272B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13272B"/>
                </a:solidFill>
                <a:latin typeface="Calibri"/>
                <a:ea typeface="Calibri"/>
                <a:cs typeface="Calibri"/>
                <a:sym typeface="Calibri"/>
              </a:rPr>
              <a:t>Folder structure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5"/>
          <p:cNvSpPr/>
          <p:nvPr/>
        </p:nvSpPr>
        <p:spPr>
          <a:xfrm>
            <a:off x="5404104" y="3218688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809"/>
              </a:lnSpc>
              <a:spcBef>
                <a:spcPts val="0"/>
              </a:spcBef>
              <a:spcAft>
                <a:spcPts val="0"/>
              </a:spcAft>
              <a:buClr>
                <a:srgbClr val="5B6B6E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B6B6E"/>
                </a:solidFill>
                <a:latin typeface="Calibri"/>
                <a:ea typeface="Calibri"/>
                <a:cs typeface="Calibri"/>
                <a:sym typeface="Calibri"/>
              </a:rPr>
              <a:t>Departments, teams, spaces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5"/>
          <p:cNvSpPr/>
          <p:nvPr/>
        </p:nvSpPr>
        <p:spPr>
          <a:xfrm>
            <a:off x="7443216" y="1920240"/>
            <a:ext cx="2057400" cy="1828800"/>
          </a:xfrm>
          <a:prstGeom prst="roundRect">
            <a:avLst>
              <a:gd fmla="val 7000" name="adj"/>
            </a:avLst>
          </a:prstGeom>
          <a:solidFill>
            <a:srgbClr val="EDF5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5"/>
          <p:cNvSpPr/>
          <p:nvPr/>
        </p:nvSpPr>
        <p:spPr>
          <a:xfrm>
            <a:off x="7671816" y="2139696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77" name="Google Shape;177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808976" y="2276856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5"/>
          <p:cNvSpPr/>
          <p:nvPr/>
        </p:nvSpPr>
        <p:spPr>
          <a:xfrm>
            <a:off x="7671816" y="2761488"/>
            <a:ext cx="1645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518"/>
              </a:lnSpc>
              <a:spcBef>
                <a:spcPts val="0"/>
              </a:spcBef>
              <a:spcAft>
                <a:spcPts val="0"/>
              </a:spcAft>
              <a:buClr>
                <a:srgbClr val="13272B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13272B"/>
                </a:solidFill>
                <a:latin typeface="Calibri"/>
                <a:ea typeface="Calibri"/>
                <a:cs typeface="Calibri"/>
                <a:sym typeface="Calibri"/>
              </a:rPr>
              <a:t>AI search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5"/>
          <p:cNvSpPr/>
          <p:nvPr/>
        </p:nvSpPr>
        <p:spPr>
          <a:xfrm>
            <a:off x="7671816" y="3218688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809"/>
              </a:lnSpc>
              <a:spcBef>
                <a:spcPts val="0"/>
              </a:spcBef>
              <a:spcAft>
                <a:spcPts val="0"/>
              </a:spcAft>
              <a:buClr>
                <a:srgbClr val="5B6B6E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B6B6E"/>
                </a:solidFill>
                <a:latin typeface="Calibri"/>
                <a:ea typeface="Calibri"/>
                <a:cs typeface="Calibri"/>
                <a:sym typeface="Calibri"/>
              </a:rPr>
              <a:t>Semantic, not keyword matching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5"/>
          <p:cNvSpPr/>
          <p:nvPr/>
        </p:nvSpPr>
        <p:spPr>
          <a:xfrm>
            <a:off x="9710928" y="1920240"/>
            <a:ext cx="2057400" cy="1828800"/>
          </a:xfrm>
          <a:prstGeom prst="roundRect">
            <a:avLst>
              <a:gd fmla="val 7000" name="adj"/>
            </a:avLst>
          </a:prstGeom>
          <a:solidFill>
            <a:srgbClr val="EDF5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5"/>
          <p:cNvSpPr/>
          <p:nvPr/>
        </p:nvSpPr>
        <p:spPr>
          <a:xfrm>
            <a:off x="9939528" y="2139696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82" name="Google Shape;182;p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076688" y="2276856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5"/>
          <p:cNvSpPr/>
          <p:nvPr/>
        </p:nvSpPr>
        <p:spPr>
          <a:xfrm>
            <a:off x="9939528" y="2761488"/>
            <a:ext cx="1645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518"/>
              </a:lnSpc>
              <a:spcBef>
                <a:spcPts val="0"/>
              </a:spcBef>
              <a:spcAft>
                <a:spcPts val="0"/>
              </a:spcAft>
              <a:buClr>
                <a:srgbClr val="13272B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13272B"/>
                </a:solidFill>
                <a:latin typeface="Calibri"/>
                <a:ea typeface="Calibri"/>
                <a:cs typeface="Calibri"/>
                <a:sym typeface="Calibri"/>
              </a:rPr>
              <a:t>Version history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5"/>
          <p:cNvSpPr/>
          <p:nvPr/>
        </p:nvSpPr>
        <p:spPr>
          <a:xfrm>
            <a:off x="9939528" y="3218688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809"/>
              </a:lnSpc>
              <a:spcBef>
                <a:spcPts val="0"/>
              </a:spcBef>
              <a:spcAft>
                <a:spcPts val="0"/>
              </a:spcAft>
              <a:buClr>
                <a:srgbClr val="5B6B6E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B6B6E"/>
                </a:solidFill>
                <a:latin typeface="Calibri"/>
                <a:ea typeface="Calibri"/>
                <a:cs typeface="Calibri"/>
                <a:sym typeface="Calibri"/>
              </a:rPr>
              <a:t>Every change, diffed and restorable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5"/>
          <p:cNvSpPr/>
          <p:nvPr/>
        </p:nvSpPr>
        <p:spPr>
          <a:xfrm>
            <a:off x="640080" y="3977640"/>
            <a:ext cx="2057400" cy="1828800"/>
          </a:xfrm>
          <a:prstGeom prst="roundRect">
            <a:avLst>
              <a:gd fmla="val 7000" name="adj"/>
            </a:avLst>
          </a:prstGeom>
          <a:solidFill>
            <a:srgbClr val="EDF5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5"/>
          <p:cNvSpPr/>
          <p:nvPr/>
        </p:nvSpPr>
        <p:spPr>
          <a:xfrm>
            <a:off x="868680" y="4197096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87" name="Google Shape;187;p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005840" y="4334256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5"/>
          <p:cNvSpPr/>
          <p:nvPr/>
        </p:nvSpPr>
        <p:spPr>
          <a:xfrm>
            <a:off x="868680" y="4818888"/>
            <a:ext cx="1645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518"/>
              </a:lnSpc>
              <a:spcBef>
                <a:spcPts val="0"/>
              </a:spcBef>
              <a:spcAft>
                <a:spcPts val="0"/>
              </a:spcAft>
              <a:buClr>
                <a:srgbClr val="13272B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13272B"/>
                </a:solidFill>
                <a:latin typeface="Calibri"/>
                <a:ea typeface="Calibri"/>
                <a:cs typeface="Calibri"/>
                <a:sym typeface="Calibri"/>
              </a:rPr>
              <a:t>Approval workflow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5"/>
          <p:cNvSpPr/>
          <p:nvPr/>
        </p:nvSpPr>
        <p:spPr>
          <a:xfrm>
            <a:off x="868680" y="5276088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809"/>
              </a:lnSpc>
              <a:spcBef>
                <a:spcPts val="0"/>
              </a:spcBef>
              <a:spcAft>
                <a:spcPts val="0"/>
              </a:spcAft>
              <a:buClr>
                <a:srgbClr val="5B6B6E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B6B6E"/>
                </a:solidFill>
                <a:latin typeface="Calibri"/>
                <a:ea typeface="Calibri"/>
                <a:cs typeface="Calibri"/>
                <a:sym typeface="Calibri"/>
              </a:rPr>
              <a:t>Draft → review → publish, with owners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5"/>
          <p:cNvSpPr/>
          <p:nvPr/>
        </p:nvSpPr>
        <p:spPr>
          <a:xfrm>
            <a:off x="2907792" y="3977640"/>
            <a:ext cx="2057400" cy="1828800"/>
          </a:xfrm>
          <a:prstGeom prst="roundRect">
            <a:avLst>
              <a:gd fmla="val 7000" name="adj"/>
            </a:avLst>
          </a:prstGeom>
          <a:solidFill>
            <a:srgbClr val="EDF5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5"/>
          <p:cNvSpPr/>
          <p:nvPr/>
        </p:nvSpPr>
        <p:spPr>
          <a:xfrm>
            <a:off x="3136392" y="4197096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92" name="Google Shape;192;p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3273552" y="4334256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5"/>
          <p:cNvSpPr/>
          <p:nvPr/>
        </p:nvSpPr>
        <p:spPr>
          <a:xfrm>
            <a:off x="3136392" y="4818888"/>
            <a:ext cx="1645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518"/>
              </a:lnSpc>
              <a:spcBef>
                <a:spcPts val="0"/>
              </a:spcBef>
              <a:spcAft>
                <a:spcPts val="0"/>
              </a:spcAft>
              <a:buClr>
                <a:srgbClr val="13272B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13272B"/>
                </a:solidFill>
                <a:latin typeface="Calibri"/>
                <a:ea typeface="Calibri"/>
                <a:cs typeface="Calibri"/>
                <a:sym typeface="Calibri"/>
              </a:rPr>
              <a:t>Employee handbook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5"/>
          <p:cNvSpPr/>
          <p:nvPr/>
        </p:nvSpPr>
        <p:spPr>
          <a:xfrm>
            <a:off x="3136392" y="5276088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809"/>
              </a:lnSpc>
              <a:spcBef>
                <a:spcPts val="0"/>
              </a:spcBef>
              <a:spcAft>
                <a:spcPts val="0"/>
              </a:spcAft>
              <a:buClr>
                <a:srgbClr val="5B6B6E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B6B6E"/>
                </a:solidFill>
                <a:latin typeface="Calibri"/>
                <a:ea typeface="Calibri"/>
                <a:cs typeface="Calibri"/>
                <a:sym typeface="Calibri"/>
              </a:rPr>
              <a:t>Policies, onboarding, acknowledgements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5"/>
          <p:cNvSpPr/>
          <p:nvPr/>
        </p:nvSpPr>
        <p:spPr>
          <a:xfrm>
            <a:off x="5175504" y="3977640"/>
            <a:ext cx="2057400" cy="1828800"/>
          </a:xfrm>
          <a:prstGeom prst="roundRect">
            <a:avLst>
              <a:gd fmla="val 7000" name="adj"/>
            </a:avLst>
          </a:prstGeom>
          <a:solidFill>
            <a:srgbClr val="EDF5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5"/>
          <p:cNvSpPr/>
          <p:nvPr/>
        </p:nvSpPr>
        <p:spPr>
          <a:xfrm>
            <a:off x="5404104" y="4197096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97" name="Google Shape;197;p5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541264" y="4334256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5"/>
          <p:cNvSpPr/>
          <p:nvPr/>
        </p:nvSpPr>
        <p:spPr>
          <a:xfrm>
            <a:off x="5404104" y="4818888"/>
            <a:ext cx="1645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518"/>
              </a:lnSpc>
              <a:spcBef>
                <a:spcPts val="0"/>
              </a:spcBef>
              <a:spcAft>
                <a:spcPts val="0"/>
              </a:spcAft>
              <a:buClr>
                <a:srgbClr val="13272B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13272B"/>
                </a:solidFill>
                <a:latin typeface="Calibri"/>
                <a:ea typeface="Calibri"/>
                <a:cs typeface="Calibri"/>
                <a:sym typeface="Calibri"/>
              </a:rPr>
              <a:t>Screen recording upload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5"/>
          <p:cNvSpPr/>
          <p:nvPr/>
        </p:nvSpPr>
        <p:spPr>
          <a:xfrm>
            <a:off x="5404104" y="5276088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809"/>
              </a:lnSpc>
              <a:spcBef>
                <a:spcPts val="0"/>
              </a:spcBef>
              <a:spcAft>
                <a:spcPts val="0"/>
              </a:spcAft>
              <a:buClr>
                <a:srgbClr val="5B6B6E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B6B6E"/>
                </a:solidFill>
                <a:latin typeface="Calibri"/>
                <a:ea typeface="Calibri"/>
                <a:cs typeface="Calibri"/>
                <a:sym typeface="Calibri"/>
              </a:rPr>
              <a:t>Capture the process as it happens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5"/>
          <p:cNvSpPr/>
          <p:nvPr/>
        </p:nvSpPr>
        <p:spPr>
          <a:xfrm>
            <a:off x="7443216" y="3977640"/>
            <a:ext cx="2057400" cy="1828800"/>
          </a:xfrm>
          <a:prstGeom prst="roundRect">
            <a:avLst>
              <a:gd fmla="val 7000" name="adj"/>
            </a:avLst>
          </a:prstGeom>
          <a:solidFill>
            <a:srgbClr val="EDF5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5"/>
          <p:cNvSpPr/>
          <p:nvPr/>
        </p:nvSpPr>
        <p:spPr>
          <a:xfrm>
            <a:off x="7671816" y="4197096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02" name="Google Shape;202;p5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7808976" y="4334256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5"/>
          <p:cNvSpPr/>
          <p:nvPr/>
        </p:nvSpPr>
        <p:spPr>
          <a:xfrm>
            <a:off x="7671816" y="4818888"/>
            <a:ext cx="1645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518"/>
              </a:lnSpc>
              <a:spcBef>
                <a:spcPts val="0"/>
              </a:spcBef>
              <a:spcAft>
                <a:spcPts val="0"/>
              </a:spcAft>
              <a:buClr>
                <a:srgbClr val="13272B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13272B"/>
                </a:solidFill>
                <a:latin typeface="Calibri"/>
                <a:ea typeface="Calibri"/>
                <a:cs typeface="Calibri"/>
                <a:sym typeface="Calibri"/>
              </a:rPr>
              <a:t>AI SOP generation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5"/>
          <p:cNvSpPr/>
          <p:nvPr/>
        </p:nvSpPr>
        <p:spPr>
          <a:xfrm>
            <a:off x="7671816" y="5276088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809"/>
              </a:lnSpc>
              <a:spcBef>
                <a:spcPts val="0"/>
              </a:spcBef>
              <a:spcAft>
                <a:spcPts val="0"/>
              </a:spcAft>
              <a:buClr>
                <a:srgbClr val="5B6B6E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B6B6E"/>
                </a:solidFill>
                <a:latin typeface="Calibri"/>
                <a:ea typeface="Calibri"/>
                <a:cs typeface="Calibri"/>
                <a:sym typeface="Calibri"/>
              </a:rPr>
              <a:t>Recordings become draft documents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5"/>
          <p:cNvSpPr/>
          <p:nvPr/>
        </p:nvSpPr>
        <p:spPr>
          <a:xfrm>
            <a:off x="9710928" y="3977640"/>
            <a:ext cx="2057400" cy="1828800"/>
          </a:xfrm>
          <a:prstGeom prst="roundRect">
            <a:avLst>
              <a:gd fmla="val 7000" name="adj"/>
            </a:avLst>
          </a:prstGeom>
          <a:solidFill>
            <a:srgbClr val="EDF5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5"/>
          <p:cNvSpPr/>
          <p:nvPr/>
        </p:nvSpPr>
        <p:spPr>
          <a:xfrm>
            <a:off x="9939528" y="4197096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07" name="Google Shape;207;p5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10076688" y="4334256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5"/>
          <p:cNvSpPr/>
          <p:nvPr/>
        </p:nvSpPr>
        <p:spPr>
          <a:xfrm>
            <a:off x="9939528" y="4818888"/>
            <a:ext cx="1645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518"/>
              </a:lnSpc>
              <a:spcBef>
                <a:spcPts val="0"/>
              </a:spcBef>
              <a:spcAft>
                <a:spcPts val="0"/>
              </a:spcAft>
              <a:buClr>
                <a:srgbClr val="13272B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13272B"/>
                </a:solidFill>
                <a:latin typeface="Calibri"/>
                <a:ea typeface="Calibri"/>
                <a:cs typeface="Calibri"/>
                <a:sym typeface="Calibri"/>
              </a:rPr>
              <a:t>Team permissions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5"/>
          <p:cNvSpPr/>
          <p:nvPr/>
        </p:nvSpPr>
        <p:spPr>
          <a:xfrm>
            <a:off x="9939528" y="5276088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809"/>
              </a:lnSpc>
              <a:spcBef>
                <a:spcPts val="0"/>
              </a:spcBef>
              <a:spcAft>
                <a:spcPts val="0"/>
              </a:spcAft>
              <a:buClr>
                <a:srgbClr val="5B6B6E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B6B6E"/>
                </a:solidFill>
                <a:latin typeface="Calibri"/>
                <a:ea typeface="Calibri"/>
                <a:cs typeface="Calibri"/>
                <a:sym typeface="Calibri"/>
              </a:rPr>
              <a:t>Role-based access down to the folder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5"/>
          <p:cNvSpPr/>
          <p:nvPr/>
        </p:nvSpPr>
        <p:spPr>
          <a:xfrm>
            <a:off x="640080" y="6080760"/>
            <a:ext cx="10881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250"/>
              <a:buFont typeface="Calibri"/>
              <a:buNone/>
            </a:pPr>
            <a:r>
              <a:rPr b="0" i="1" lang="en-US" sz="125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The first eight are table stakes. The last two are why a team switches.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4353D"/>
        </a:solid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6"/>
          <p:cNvSpPr/>
          <p:nvPr/>
        </p:nvSpPr>
        <p:spPr>
          <a:xfrm>
            <a:off x="9692640" y="-1737360"/>
            <a:ext cx="4937760" cy="4937760"/>
          </a:xfrm>
          <a:prstGeom prst="ellipse">
            <a:avLst/>
          </a:prstGeom>
          <a:solidFill>
            <a:srgbClr val="028090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6"/>
          <p:cNvSpPr/>
          <p:nvPr/>
        </p:nvSpPr>
        <p:spPr>
          <a:xfrm>
            <a:off x="640080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B84D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FFB84D"/>
                </a:solidFill>
                <a:latin typeface="Calibri"/>
                <a:ea typeface="Calibri"/>
                <a:cs typeface="Calibri"/>
                <a:sym typeface="Calibri"/>
              </a:rPr>
              <a:t>THE AI LAYER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6"/>
          <p:cNvSpPr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mbria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What makes it worth switching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6"/>
          <p:cNvSpPr/>
          <p:nvPr/>
        </p:nvSpPr>
        <p:spPr>
          <a:xfrm>
            <a:off x="640080" y="1417320"/>
            <a:ext cx="69494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A9C7C9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A9C7C9"/>
                </a:solidFill>
                <a:latin typeface="Calibri"/>
                <a:ea typeface="Calibri"/>
                <a:cs typeface="Calibri"/>
                <a:sym typeface="Calibri"/>
              </a:rPr>
              <a:t>A vector index over your own approved content — so the model answers from your process,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A9C7C9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A9C7C9"/>
                </a:solidFill>
                <a:latin typeface="Calibri"/>
                <a:ea typeface="Calibri"/>
                <a:cs typeface="Calibri"/>
                <a:sym typeface="Calibri"/>
              </a:rPr>
              <a:t>not from the internet.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6"/>
          <p:cNvSpPr/>
          <p:nvPr/>
        </p:nvSpPr>
        <p:spPr>
          <a:xfrm>
            <a:off x="640080" y="2286000"/>
            <a:ext cx="10881360" cy="749808"/>
          </a:xfrm>
          <a:prstGeom prst="roundRect">
            <a:avLst>
              <a:gd fmla="val 12195" name="adj"/>
            </a:avLst>
          </a:prstGeom>
          <a:solidFill>
            <a:srgbClr val="0A4A5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6"/>
          <p:cNvSpPr/>
          <p:nvPr/>
        </p:nvSpPr>
        <p:spPr>
          <a:xfrm>
            <a:off x="868680" y="2432304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22" name="Google Shape;222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552" y="2551176"/>
            <a:ext cx="219456" cy="219456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6"/>
          <p:cNvSpPr/>
          <p:nvPr/>
        </p:nvSpPr>
        <p:spPr>
          <a:xfrm>
            <a:off x="1481328" y="2459736"/>
            <a:ext cx="28346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Video → SOP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6"/>
          <p:cNvSpPr/>
          <p:nvPr/>
        </p:nvSpPr>
        <p:spPr>
          <a:xfrm>
            <a:off x="4434840" y="2487168"/>
            <a:ext cx="6858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9C7C9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A9C7C9"/>
                </a:solidFill>
                <a:latin typeface="Calibri"/>
                <a:ea typeface="Calibri"/>
                <a:cs typeface="Calibri"/>
                <a:sym typeface="Calibri"/>
              </a:rPr>
              <a:t>Turn any screen recording into a structured, editable document in minutes.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6"/>
          <p:cNvSpPr/>
          <p:nvPr/>
        </p:nvSpPr>
        <p:spPr>
          <a:xfrm>
            <a:off x="640080" y="3145536"/>
            <a:ext cx="10881360" cy="749808"/>
          </a:xfrm>
          <a:prstGeom prst="roundRect">
            <a:avLst>
              <a:gd fmla="val 12195" name="adj"/>
            </a:avLst>
          </a:prstGeom>
          <a:solidFill>
            <a:srgbClr val="0A4A5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6"/>
          <p:cNvSpPr/>
          <p:nvPr/>
        </p:nvSpPr>
        <p:spPr>
          <a:xfrm>
            <a:off x="868680" y="3291840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27" name="Google Shape;227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87552" y="3410712"/>
            <a:ext cx="219456" cy="219456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6"/>
          <p:cNvSpPr/>
          <p:nvPr/>
        </p:nvSpPr>
        <p:spPr>
          <a:xfrm>
            <a:off x="1481328" y="3319272"/>
            <a:ext cx="28346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Professional rewrite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6"/>
          <p:cNvSpPr/>
          <p:nvPr/>
        </p:nvSpPr>
        <p:spPr>
          <a:xfrm>
            <a:off x="4434840" y="3346704"/>
            <a:ext cx="6858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9C7C9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A9C7C9"/>
                </a:solidFill>
                <a:latin typeface="Calibri"/>
                <a:ea typeface="Calibri"/>
                <a:cs typeface="Calibri"/>
                <a:sym typeface="Calibri"/>
              </a:rPr>
              <a:t>Rough notes become clear, consistent, on-brand procedure language.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6"/>
          <p:cNvSpPr/>
          <p:nvPr/>
        </p:nvSpPr>
        <p:spPr>
          <a:xfrm>
            <a:off x="640080" y="4005072"/>
            <a:ext cx="10881360" cy="749808"/>
          </a:xfrm>
          <a:prstGeom prst="roundRect">
            <a:avLst>
              <a:gd fmla="val 12195" name="adj"/>
            </a:avLst>
          </a:prstGeom>
          <a:solidFill>
            <a:srgbClr val="0A4A5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6"/>
          <p:cNvSpPr/>
          <p:nvPr/>
        </p:nvSpPr>
        <p:spPr>
          <a:xfrm>
            <a:off x="868680" y="4151376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32" name="Google Shape;232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87552" y="4270248"/>
            <a:ext cx="219456" cy="219456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6"/>
          <p:cNvSpPr/>
          <p:nvPr/>
        </p:nvSpPr>
        <p:spPr>
          <a:xfrm>
            <a:off x="1481328" y="4178808"/>
            <a:ext cx="28346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One-click translation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6"/>
          <p:cNvSpPr/>
          <p:nvPr/>
        </p:nvSpPr>
        <p:spPr>
          <a:xfrm>
            <a:off x="4434840" y="4206240"/>
            <a:ext cx="6858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9C7C9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A9C7C9"/>
                </a:solidFill>
                <a:latin typeface="Calibri"/>
                <a:ea typeface="Calibri"/>
                <a:cs typeface="Calibri"/>
                <a:sym typeface="Calibri"/>
              </a:rPr>
              <a:t>Publish the same SOP for every location and language your team works in.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6"/>
          <p:cNvSpPr/>
          <p:nvPr/>
        </p:nvSpPr>
        <p:spPr>
          <a:xfrm>
            <a:off x="640080" y="4864608"/>
            <a:ext cx="10881360" cy="749808"/>
          </a:xfrm>
          <a:prstGeom prst="roundRect">
            <a:avLst>
              <a:gd fmla="val 12195" name="adj"/>
            </a:avLst>
          </a:prstGeom>
          <a:solidFill>
            <a:srgbClr val="0A4A5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6"/>
          <p:cNvSpPr/>
          <p:nvPr/>
        </p:nvSpPr>
        <p:spPr>
          <a:xfrm>
            <a:off x="868680" y="5010912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37" name="Google Shape;237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87552" y="5129784"/>
            <a:ext cx="219456" cy="219456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"/>
          <p:cNvSpPr/>
          <p:nvPr/>
        </p:nvSpPr>
        <p:spPr>
          <a:xfrm>
            <a:off x="1481328" y="5038344"/>
            <a:ext cx="28346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Chatbot on your docs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6"/>
          <p:cNvSpPr/>
          <p:nvPr/>
        </p:nvSpPr>
        <p:spPr>
          <a:xfrm>
            <a:off x="4434840" y="5065776"/>
            <a:ext cx="6858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9C7C9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A9C7C9"/>
                </a:solidFill>
                <a:latin typeface="Calibri"/>
                <a:ea typeface="Calibri"/>
                <a:cs typeface="Calibri"/>
                <a:sym typeface="Calibri"/>
              </a:rPr>
              <a:t>Answers only from your approved knowledge base, with citations to the source document.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6"/>
          <p:cNvSpPr/>
          <p:nvPr/>
        </p:nvSpPr>
        <p:spPr>
          <a:xfrm>
            <a:off x="640080" y="5724144"/>
            <a:ext cx="10881360" cy="749808"/>
          </a:xfrm>
          <a:prstGeom prst="roundRect">
            <a:avLst>
              <a:gd fmla="val 12195" name="adj"/>
            </a:avLst>
          </a:prstGeom>
          <a:solidFill>
            <a:srgbClr val="0A4A5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6"/>
          <p:cNvSpPr/>
          <p:nvPr/>
        </p:nvSpPr>
        <p:spPr>
          <a:xfrm>
            <a:off x="868680" y="5870448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42" name="Google Shape;242;p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87552" y="5989320"/>
            <a:ext cx="219456" cy="219456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"/>
          <p:cNvSpPr/>
          <p:nvPr/>
        </p:nvSpPr>
        <p:spPr>
          <a:xfrm>
            <a:off x="1481328" y="5897880"/>
            <a:ext cx="28346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Instant answers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6"/>
          <p:cNvSpPr/>
          <p:nvPr/>
        </p:nvSpPr>
        <p:spPr>
          <a:xfrm>
            <a:off x="4434840" y="5925312"/>
            <a:ext cx="6858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9C7C9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A9C7C9"/>
                </a:solidFill>
                <a:latin typeface="Calibri"/>
                <a:ea typeface="Calibri"/>
                <a:cs typeface="Calibri"/>
                <a:sym typeface="Calibri"/>
              </a:rPr>
              <a:t>Ask a question in plain language and get the step — not a list of ten links.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7"/>
          <p:cNvSpPr/>
          <p:nvPr/>
        </p:nvSpPr>
        <p:spPr>
          <a:xfrm>
            <a:off x="640080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WHO IT'S FOR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7"/>
          <p:cNvSpPr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72B"/>
              </a:buClr>
              <a:buSzPts val="3600"/>
              <a:buFont typeface="Cambria"/>
              <a:buNone/>
            </a:pPr>
            <a:r>
              <a:rPr b="1" i="0" lang="en-US" sz="3600" u="none" cap="none" strike="noStrike">
                <a:solidFill>
                  <a:srgbClr val="13272B"/>
                </a:solidFill>
                <a:latin typeface="Cambria"/>
                <a:ea typeface="Cambria"/>
                <a:cs typeface="Cambria"/>
                <a:sym typeface="Cambria"/>
              </a:rPr>
              <a:t>Teams that run on repeatable process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7"/>
          <p:cNvSpPr/>
          <p:nvPr/>
        </p:nvSpPr>
        <p:spPr>
          <a:xfrm>
            <a:off x="640080" y="1691640"/>
            <a:ext cx="2606040" cy="1965960"/>
          </a:xfrm>
          <a:prstGeom prst="roundRect">
            <a:avLst>
              <a:gd fmla="val 6512" name="adj"/>
            </a:avLst>
          </a:prstGeom>
          <a:solidFill>
            <a:srgbClr val="EDF5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7"/>
          <p:cNvSpPr/>
          <p:nvPr/>
        </p:nvSpPr>
        <p:spPr>
          <a:xfrm>
            <a:off x="868680" y="1920240"/>
            <a:ext cx="512064" cy="512064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54" name="Google Shape;254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05840" y="2057400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7"/>
          <p:cNvSpPr/>
          <p:nvPr/>
        </p:nvSpPr>
        <p:spPr>
          <a:xfrm>
            <a:off x="868680" y="2560320"/>
            <a:ext cx="2148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72B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13272B"/>
                </a:solidFill>
                <a:latin typeface="Calibri"/>
                <a:ea typeface="Calibri"/>
                <a:cs typeface="Calibri"/>
                <a:sym typeface="Calibri"/>
              </a:rPr>
              <a:t>Agencies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7"/>
          <p:cNvSpPr/>
          <p:nvPr/>
        </p:nvSpPr>
        <p:spPr>
          <a:xfrm>
            <a:off x="868680" y="2907792"/>
            <a:ext cx="2148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5B6B6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B6B6E"/>
                </a:solidFill>
                <a:latin typeface="Calibri"/>
                <a:ea typeface="Calibri"/>
                <a:cs typeface="Calibri"/>
                <a:sym typeface="Calibri"/>
              </a:rPr>
              <a:t>Client delivery playbooks that survive staff churn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7"/>
          <p:cNvSpPr/>
          <p:nvPr/>
        </p:nvSpPr>
        <p:spPr>
          <a:xfrm>
            <a:off x="3456432" y="1691640"/>
            <a:ext cx="2606040" cy="1965960"/>
          </a:xfrm>
          <a:prstGeom prst="roundRect">
            <a:avLst>
              <a:gd fmla="val 6512" name="adj"/>
            </a:avLst>
          </a:prstGeom>
          <a:solidFill>
            <a:srgbClr val="EDF5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7"/>
          <p:cNvSpPr/>
          <p:nvPr/>
        </p:nvSpPr>
        <p:spPr>
          <a:xfrm>
            <a:off x="3685032" y="1920240"/>
            <a:ext cx="512064" cy="512064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59" name="Google Shape;259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822192" y="2057400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7"/>
          <p:cNvSpPr/>
          <p:nvPr/>
        </p:nvSpPr>
        <p:spPr>
          <a:xfrm>
            <a:off x="3685032" y="2560320"/>
            <a:ext cx="2148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72B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13272B"/>
                </a:solidFill>
                <a:latin typeface="Calibri"/>
                <a:ea typeface="Calibri"/>
                <a:cs typeface="Calibri"/>
                <a:sym typeface="Calibri"/>
              </a:rPr>
              <a:t>HR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7"/>
          <p:cNvSpPr/>
          <p:nvPr/>
        </p:nvSpPr>
        <p:spPr>
          <a:xfrm>
            <a:off x="3685032" y="2907792"/>
            <a:ext cx="2148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5B6B6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B6B6E"/>
                </a:solidFill>
                <a:latin typeface="Calibri"/>
                <a:ea typeface="Calibri"/>
                <a:cs typeface="Calibri"/>
                <a:sym typeface="Calibri"/>
              </a:rPr>
              <a:t>Handbooks, onboarding and policy acknowledgement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7"/>
          <p:cNvSpPr/>
          <p:nvPr/>
        </p:nvSpPr>
        <p:spPr>
          <a:xfrm>
            <a:off x="6272784" y="1691640"/>
            <a:ext cx="2606040" cy="1965960"/>
          </a:xfrm>
          <a:prstGeom prst="roundRect">
            <a:avLst>
              <a:gd fmla="val 6512" name="adj"/>
            </a:avLst>
          </a:prstGeom>
          <a:solidFill>
            <a:srgbClr val="EDF5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p7"/>
          <p:cNvSpPr/>
          <p:nvPr/>
        </p:nvSpPr>
        <p:spPr>
          <a:xfrm>
            <a:off x="6501384" y="1920240"/>
            <a:ext cx="512064" cy="512064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64" name="Google Shape;264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638544" y="2057400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7"/>
          <p:cNvSpPr/>
          <p:nvPr/>
        </p:nvSpPr>
        <p:spPr>
          <a:xfrm>
            <a:off x="6501384" y="2560320"/>
            <a:ext cx="2148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72B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13272B"/>
                </a:solidFill>
                <a:latin typeface="Calibri"/>
                <a:ea typeface="Calibri"/>
                <a:cs typeface="Calibri"/>
                <a:sym typeface="Calibri"/>
              </a:rPr>
              <a:t>Operations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7"/>
          <p:cNvSpPr/>
          <p:nvPr/>
        </p:nvSpPr>
        <p:spPr>
          <a:xfrm>
            <a:off x="6501384" y="2907792"/>
            <a:ext cx="2148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5B6B6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B6B6E"/>
                </a:solidFill>
                <a:latin typeface="Calibri"/>
                <a:ea typeface="Calibri"/>
                <a:cs typeface="Calibri"/>
                <a:sym typeface="Calibri"/>
              </a:rPr>
              <a:t>Standardised process across sites and shifts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7"/>
          <p:cNvSpPr/>
          <p:nvPr/>
        </p:nvSpPr>
        <p:spPr>
          <a:xfrm>
            <a:off x="9089136" y="1691640"/>
            <a:ext cx="2606040" cy="1965960"/>
          </a:xfrm>
          <a:prstGeom prst="roundRect">
            <a:avLst>
              <a:gd fmla="val 6512" name="adj"/>
            </a:avLst>
          </a:prstGeom>
          <a:solidFill>
            <a:srgbClr val="EDF5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p7"/>
          <p:cNvSpPr/>
          <p:nvPr/>
        </p:nvSpPr>
        <p:spPr>
          <a:xfrm>
            <a:off x="9317736" y="1920240"/>
            <a:ext cx="512064" cy="512064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69" name="Google Shape;269;p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454896" y="2057400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"/>
          <p:cNvSpPr/>
          <p:nvPr/>
        </p:nvSpPr>
        <p:spPr>
          <a:xfrm>
            <a:off x="9317736" y="2560320"/>
            <a:ext cx="2148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72B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13272B"/>
                </a:solidFill>
                <a:latin typeface="Calibri"/>
                <a:ea typeface="Calibri"/>
                <a:cs typeface="Calibri"/>
                <a:sym typeface="Calibri"/>
              </a:rPr>
              <a:t>Customer support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7"/>
          <p:cNvSpPr/>
          <p:nvPr/>
        </p:nvSpPr>
        <p:spPr>
          <a:xfrm>
            <a:off x="9317736" y="2907792"/>
            <a:ext cx="2148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5B6B6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B6B6E"/>
                </a:solidFill>
                <a:latin typeface="Calibri"/>
                <a:ea typeface="Calibri"/>
                <a:cs typeface="Calibri"/>
                <a:sym typeface="Calibri"/>
              </a:rPr>
              <a:t>Answer-first macros and escalation paths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7"/>
          <p:cNvSpPr/>
          <p:nvPr/>
        </p:nvSpPr>
        <p:spPr>
          <a:xfrm>
            <a:off x="2048256" y="3886200"/>
            <a:ext cx="2606040" cy="1965960"/>
          </a:xfrm>
          <a:prstGeom prst="roundRect">
            <a:avLst>
              <a:gd fmla="val 6512" name="adj"/>
            </a:avLst>
          </a:prstGeom>
          <a:solidFill>
            <a:srgbClr val="EDF5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7"/>
          <p:cNvSpPr/>
          <p:nvPr/>
        </p:nvSpPr>
        <p:spPr>
          <a:xfrm>
            <a:off x="2276856" y="4114800"/>
            <a:ext cx="512064" cy="512064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74" name="Google Shape;274;p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414016" y="4251960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p7"/>
          <p:cNvSpPr/>
          <p:nvPr/>
        </p:nvSpPr>
        <p:spPr>
          <a:xfrm>
            <a:off x="2276856" y="4754880"/>
            <a:ext cx="2148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72B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13272B"/>
                </a:solidFill>
                <a:latin typeface="Calibri"/>
                <a:ea typeface="Calibri"/>
                <a:cs typeface="Calibri"/>
                <a:sym typeface="Calibri"/>
              </a:rPr>
              <a:t>Manufacturing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7"/>
          <p:cNvSpPr/>
          <p:nvPr/>
        </p:nvSpPr>
        <p:spPr>
          <a:xfrm>
            <a:off x="2276856" y="5102352"/>
            <a:ext cx="2148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5B6B6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B6B6E"/>
                </a:solidFill>
                <a:latin typeface="Calibri"/>
                <a:ea typeface="Calibri"/>
                <a:cs typeface="Calibri"/>
                <a:sym typeface="Calibri"/>
              </a:rPr>
              <a:t>Work instructions with visual, versioned steps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7"/>
          <p:cNvSpPr/>
          <p:nvPr/>
        </p:nvSpPr>
        <p:spPr>
          <a:xfrm>
            <a:off x="4864608" y="3886200"/>
            <a:ext cx="2606040" cy="1965960"/>
          </a:xfrm>
          <a:prstGeom prst="roundRect">
            <a:avLst>
              <a:gd fmla="val 6512" name="adj"/>
            </a:avLst>
          </a:prstGeom>
          <a:solidFill>
            <a:srgbClr val="EDF5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8" name="Google Shape;278;p7"/>
          <p:cNvSpPr/>
          <p:nvPr/>
        </p:nvSpPr>
        <p:spPr>
          <a:xfrm>
            <a:off x="5093208" y="4114800"/>
            <a:ext cx="512064" cy="512064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79" name="Google Shape;279;p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230368" y="4251960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7"/>
          <p:cNvSpPr/>
          <p:nvPr/>
        </p:nvSpPr>
        <p:spPr>
          <a:xfrm>
            <a:off x="5093208" y="4754880"/>
            <a:ext cx="2148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72B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13272B"/>
                </a:solidFill>
                <a:latin typeface="Calibri"/>
                <a:ea typeface="Calibri"/>
                <a:cs typeface="Calibri"/>
                <a:sym typeface="Calibri"/>
              </a:rPr>
              <a:t>Healthcare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7"/>
          <p:cNvSpPr/>
          <p:nvPr/>
        </p:nvSpPr>
        <p:spPr>
          <a:xfrm>
            <a:off x="5093208" y="5102352"/>
            <a:ext cx="2148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5B6B6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B6B6E"/>
                </a:solidFill>
                <a:latin typeface="Calibri"/>
                <a:ea typeface="Calibri"/>
                <a:cs typeface="Calibri"/>
                <a:sym typeface="Calibri"/>
              </a:rPr>
              <a:t>Protocol control with an auditable approval trail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7"/>
          <p:cNvSpPr/>
          <p:nvPr/>
        </p:nvSpPr>
        <p:spPr>
          <a:xfrm>
            <a:off x="7680960" y="3886200"/>
            <a:ext cx="2606040" cy="1965960"/>
          </a:xfrm>
          <a:prstGeom prst="roundRect">
            <a:avLst>
              <a:gd fmla="val 6512" name="adj"/>
            </a:avLst>
          </a:prstGeom>
          <a:solidFill>
            <a:srgbClr val="EDF5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7"/>
          <p:cNvSpPr/>
          <p:nvPr/>
        </p:nvSpPr>
        <p:spPr>
          <a:xfrm>
            <a:off x="7909560" y="4114800"/>
            <a:ext cx="512064" cy="512064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84" name="Google Shape;284;p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046720" y="4251960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Google Shape;285;p7"/>
          <p:cNvSpPr/>
          <p:nvPr/>
        </p:nvSpPr>
        <p:spPr>
          <a:xfrm>
            <a:off x="7909560" y="4754880"/>
            <a:ext cx="2148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72B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13272B"/>
                </a:solidFill>
                <a:latin typeface="Calibri"/>
                <a:ea typeface="Calibri"/>
                <a:cs typeface="Calibri"/>
                <a:sym typeface="Calibri"/>
              </a:rPr>
              <a:t>IT companies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7"/>
          <p:cNvSpPr/>
          <p:nvPr/>
        </p:nvSpPr>
        <p:spPr>
          <a:xfrm>
            <a:off x="7909560" y="5102352"/>
            <a:ext cx="2148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5B6B6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B6B6E"/>
                </a:solidFill>
                <a:latin typeface="Calibri"/>
                <a:ea typeface="Calibri"/>
                <a:cs typeface="Calibri"/>
                <a:sym typeface="Calibri"/>
              </a:rPr>
              <a:t>Runbooks, onboarding and internal engineering docs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7"/>
          <p:cNvSpPr/>
          <p:nvPr/>
        </p:nvSpPr>
        <p:spPr>
          <a:xfrm>
            <a:off x="640080" y="6053328"/>
            <a:ext cx="10881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250"/>
              <a:buFont typeface="Calibri"/>
              <a:buNone/>
            </a:pPr>
            <a:r>
              <a:rPr b="0" i="1" lang="en-US" sz="125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Beachhead: agencies and ops teams of 10–200 — enough process to hurt, no compliance procurement cycle.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8"/>
          <p:cNvSpPr/>
          <p:nvPr/>
        </p:nvSpPr>
        <p:spPr>
          <a:xfrm>
            <a:off x="640080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PRICING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8"/>
          <p:cNvSpPr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72B"/>
              </a:buClr>
              <a:buSzPts val="3600"/>
              <a:buFont typeface="Cambria"/>
              <a:buNone/>
            </a:pPr>
            <a:r>
              <a:rPr b="1" i="0" lang="en-US" sz="3600" u="none" cap="none" strike="noStrike">
                <a:solidFill>
                  <a:srgbClr val="13272B"/>
                </a:solidFill>
                <a:latin typeface="Cambria"/>
                <a:ea typeface="Cambria"/>
                <a:cs typeface="Cambria"/>
                <a:sym typeface="Cambria"/>
              </a:rPr>
              <a:t>Simple tiers, room to expand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8"/>
          <p:cNvSpPr/>
          <p:nvPr/>
        </p:nvSpPr>
        <p:spPr>
          <a:xfrm>
            <a:off x="640080" y="1325880"/>
            <a:ext cx="8686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6E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5B6B6E"/>
                </a:solidFill>
                <a:latin typeface="Calibri"/>
                <a:ea typeface="Calibri"/>
                <a:cs typeface="Calibri"/>
                <a:sym typeface="Calibri"/>
              </a:rPr>
              <a:t>Free gets a team in. Pro converts the individual champion. Team monetises the rollout.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8"/>
          <p:cNvSpPr/>
          <p:nvPr/>
        </p:nvSpPr>
        <p:spPr>
          <a:xfrm>
            <a:off x="1234440" y="2011680"/>
            <a:ext cx="2971800" cy="3840480"/>
          </a:xfrm>
          <a:prstGeom prst="roundRect">
            <a:avLst>
              <a:gd fmla="val 4308" name="adj"/>
            </a:avLst>
          </a:prstGeom>
          <a:solidFill>
            <a:srgbClr val="EDF5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8"/>
          <p:cNvSpPr/>
          <p:nvPr/>
        </p:nvSpPr>
        <p:spPr>
          <a:xfrm>
            <a:off x="1554480" y="2304288"/>
            <a:ext cx="1463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Free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8"/>
          <p:cNvSpPr/>
          <p:nvPr/>
        </p:nvSpPr>
        <p:spPr>
          <a:xfrm>
            <a:off x="1554480" y="2697480"/>
            <a:ext cx="22860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72B"/>
              </a:buClr>
              <a:buSzPts val="4600"/>
              <a:buFont typeface="Cambria"/>
              <a:buNone/>
            </a:pPr>
            <a:r>
              <a:rPr b="1" i="0" lang="en-US" sz="4600" u="none" cap="none" strike="noStrike">
                <a:solidFill>
                  <a:srgbClr val="13272B"/>
                </a:solidFill>
                <a:latin typeface="Cambria"/>
                <a:ea typeface="Cambria"/>
                <a:cs typeface="Cambria"/>
                <a:sym typeface="Cambria"/>
              </a:rPr>
              <a:t>$0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8"/>
          <p:cNvSpPr/>
          <p:nvPr/>
        </p:nvSpPr>
        <p:spPr>
          <a:xfrm>
            <a:off x="1554480" y="3493008"/>
            <a:ext cx="2286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6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B6B6E"/>
                </a:solidFill>
                <a:latin typeface="Calibri"/>
                <a:ea typeface="Calibri"/>
                <a:cs typeface="Calibri"/>
                <a:sym typeface="Calibri"/>
              </a:rPr>
              <a:t>per month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8"/>
          <p:cNvSpPr/>
          <p:nvPr/>
        </p:nvSpPr>
        <p:spPr>
          <a:xfrm>
            <a:off x="1572768" y="3922776"/>
            <a:ext cx="100584" cy="100584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p8"/>
          <p:cNvSpPr/>
          <p:nvPr/>
        </p:nvSpPr>
        <p:spPr>
          <a:xfrm>
            <a:off x="1828800" y="384048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72B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3272B"/>
                </a:solidFill>
                <a:latin typeface="Calibri"/>
                <a:ea typeface="Calibri"/>
                <a:cs typeface="Calibri"/>
                <a:sym typeface="Calibri"/>
              </a:rPr>
              <a:t>Up to 3 users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8"/>
          <p:cNvSpPr/>
          <p:nvPr/>
        </p:nvSpPr>
        <p:spPr>
          <a:xfrm>
            <a:off x="1572768" y="4288536"/>
            <a:ext cx="100584" cy="100584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8"/>
          <p:cNvSpPr/>
          <p:nvPr/>
        </p:nvSpPr>
        <p:spPr>
          <a:xfrm>
            <a:off x="1828800" y="420624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72B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3272B"/>
                </a:solidFill>
                <a:latin typeface="Calibri"/>
                <a:ea typeface="Calibri"/>
                <a:cs typeface="Calibri"/>
                <a:sym typeface="Calibri"/>
              </a:rPr>
              <a:t>50 documents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8"/>
          <p:cNvSpPr/>
          <p:nvPr/>
        </p:nvSpPr>
        <p:spPr>
          <a:xfrm>
            <a:off x="1572768" y="4654296"/>
            <a:ext cx="100584" cy="100584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8"/>
          <p:cNvSpPr/>
          <p:nvPr/>
        </p:nvSpPr>
        <p:spPr>
          <a:xfrm>
            <a:off x="1828800" y="457200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72B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3272B"/>
                </a:solidFill>
                <a:latin typeface="Calibri"/>
                <a:ea typeface="Calibri"/>
                <a:cs typeface="Calibri"/>
                <a:sym typeface="Calibri"/>
              </a:rPr>
              <a:t>5 video → SOP generations / mo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8"/>
          <p:cNvSpPr/>
          <p:nvPr/>
        </p:nvSpPr>
        <p:spPr>
          <a:xfrm>
            <a:off x="1572768" y="5020056"/>
            <a:ext cx="100584" cy="100584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8"/>
          <p:cNvSpPr/>
          <p:nvPr/>
        </p:nvSpPr>
        <p:spPr>
          <a:xfrm>
            <a:off x="1828800" y="493776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72B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3272B"/>
                </a:solidFill>
                <a:latin typeface="Calibri"/>
                <a:ea typeface="Calibri"/>
                <a:cs typeface="Calibri"/>
                <a:sym typeface="Calibri"/>
              </a:rPr>
              <a:t>Basic AI search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8"/>
          <p:cNvSpPr/>
          <p:nvPr/>
        </p:nvSpPr>
        <p:spPr>
          <a:xfrm>
            <a:off x="1572768" y="5385816"/>
            <a:ext cx="100584" cy="100584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8"/>
          <p:cNvSpPr/>
          <p:nvPr/>
        </p:nvSpPr>
        <p:spPr>
          <a:xfrm>
            <a:off x="1828800" y="530352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72B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3272B"/>
                </a:solidFill>
                <a:latin typeface="Calibri"/>
                <a:ea typeface="Calibri"/>
                <a:cs typeface="Calibri"/>
                <a:sym typeface="Calibri"/>
              </a:rPr>
              <a:t>Core editor &amp; folders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8"/>
          <p:cNvSpPr/>
          <p:nvPr/>
        </p:nvSpPr>
        <p:spPr>
          <a:xfrm>
            <a:off x="4572000" y="1847088"/>
            <a:ext cx="2971800" cy="4160520"/>
          </a:xfrm>
          <a:prstGeom prst="roundRect">
            <a:avLst>
              <a:gd fmla="val 4308" name="adj"/>
            </a:avLst>
          </a:prstGeom>
          <a:solidFill>
            <a:srgbClr val="04353D"/>
          </a:solidFill>
          <a:ln>
            <a:noFill/>
          </a:ln>
          <a:effectLst>
            <a:outerShdw blurRad="127000" rotWithShape="0" algn="bl" dir="5400000" dist="25400">
              <a:srgbClr val="0A3A40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1" name="Google Shape;311;p8"/>
          <p:cNvSpPr/>
          <p:nvPr/>
        </p:nvSpPr>
        <p:spPr>
          <a:xfrm>
            <a:off x="6355080" y="2121408"/>
            <a:ext cx="960120" cy="310896"/>
          </a:xfrm>
          <a:prstGeom prst="roundRect">
            <a:avLst>
              <a:gd fmla="val 47059" name="adj"/>
            </a:avLst>
          </a:prstGeom>
          <a:solidFill>
            <a:srgbClr val="FFB84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8"/>
          <p:cNvSpPr/>
          <p:nvPr/>
        </p:nvSpPr>
        <p:spPr>
          <a:xfrm>
            <a:off x="6355080" y="2167128"/>
            <a:ext cx="9601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4353D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4353D"/>
                </a:solidFill>
                <a:latin typeface="Calibri"/>
                <a:ea typeface="Calibri"/>
                <a:cs typeface="Calibri"/>
                <a:sym typeface="Calibri"/>
              </a:rPr>
              <a:t>POPULAR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8"/>
          <p:cNvSpPr/>
          <p:nvPr/>
        </p:nvSpPr>
        <p:spPr>
          <a:xfrm>
            <a:off x="4892040" y="2139696"/>
            <a:ext cx="1463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Pro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8"/>
          <p:cNvSpPr/>
          <p:nvPr/>
        </p:nvSpPr>
        <p:spPr>
          <a:xfrm>
            <a:off x="4892040" y="2532888"/>
            <a:ext cx="22860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00"/>
              <a:buFont typeface="Cambria"/>
              <a:buNone/>
            </a:pPr>
            <a:r>
              <a:rPr b="1" i="0" lang="en-US" sz="4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$19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8"/>
          <p:cNvSpPr/>
          <p:nvPr/>
        </p:nvSpPr>
        <p:spPr>
          <a:xfrm>
            <a:off x="4892040" y="3328416"/>
            <a:ext cx="2286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9C7C9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A9C7C9"/>
                </a:solidFill>
                <a:latin typeface="Calibri"/>
                <a:ea typeface="Calibri"/>
                <a:cs typeface="Calibri"/>
                <a:sym typeface="Calibri"/>
              </a:rPr>
              <a:t>per user / month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8"/>
          <p:cNvSpPr/>
          <p:nvPr/>
        </p:nvSpPr>
        <p:spPr>
          <a:xfrm>
            <a:off x="4910328" y="3849624"/>
            <a:ext cx="100584" cy="100584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p8"/>
          <p:cNvSpPr/>
          <p:nvPr/>
        </p:nvSpPr>
        <p:spPr>
          <a:xfrm>
            <a:off x="5166360" y="3767328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E7E7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D6E7E7"/>
                </a:solidFill>
                <a:latin typeface="Calibri"/>
                <a:ea typeface="Calibri"/>
                <a:cs typeface="Calibri"/>
                <a:sym typeface="Calibri"/>
              </a:rPr>
              <a:t>Unlimited documents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"/>
          <p:cNvSpPr/>
          <p:nvPr/>
        </p:nvSpPr>
        <p:spPr>
          <a:xfrm>
            <a:off x="4910328" y="4215384"/>
            <a:ext cx="100584" cy="100584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9" name="Google Shape;319;p8"/>
          <p:cNvSpPr/>
          <p:nvPr/>
        </p:nvSpPr>
        <p:spPr>
          <a:xfrm>
            <a:off x="5166360" y="4133088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E7E7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D6E7E7"/>
                </a:solidFill>
                <a:latin typeface="Calibri"/>
                <a:ea typeface="Calibri"/>
                <a:cs typeface="Calibri"/>
                <a:sym typeface="Calibri"/>
              </a:rPr>
              <a:t>Video → SOP, 100 / mo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8"/>
          <p:cNvSpPr/>
          <p:nvPr/>
        </p:nvSpPr>
        <p:spPr>
          <a:xfrm>
            <a:off x="4910328" y="4581144"/>
            <a:ext cx="100584" cy="100584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p8"/>
          <p:cNvSpPr/>
          <p:nvPr/>
        </p:nvSpPr>
        <p:spPr>
          <a:xfrm>
            <a:off x="5166360" y="4498848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E7E7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D6E7E7"/>
                </a:solidFill>
                <a:latin typeface="Calibri"/>
                <a:ea typeface="Calibri"/>
                <a:cs typeface="Calibri"/>
                <a:sym typeface="Calibri"/>
              </a:rPr>
              <a:t>AI rewrite &amp; translation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8"/>
          <p:cNvSpPr/>
          <p:nvPr/>
        </p:nvSpPr>
        <p:spPr>
          <a:xfrm>
            <a:off x="4910328" y="4946904"/>
            <a:ext cx="100584" cy="100584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3" name="Google Shape;323;p8"/>
          <p:cNvSpPr/>
          <p:nvPr/>
        </p:nvSpPr>
        <p:spPr>
          <a:xfrm>
            <a:off x="5166360" y="4864608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E7E7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D6E7E7"/>
                </a:solidFill>
                <a:latin typeface="Calibri"/>
                <a:ea typeface="Calibri"/>
                <a:cs typeface="Calibri"/>
                <a:sym typeface="Calibri"/>
              </a:rPr>
              <a:t>Version history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8"/>
          <p:cNvSpPr/>
          <p:nvPr/>
        </p:nvSpPr>
        <p:spPr>
          <a:xfrm>
            <a:off x="4910328" y="5312664"/>
            <a:ext cx="100584" cy="100584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5" name="Google Shape;325;p8"/>
          <p:cNvSpPr/>
          <p:nvPr/>
        </p:nvSpPr>
        <p:spPr>
          <a:xfrm>
            <a:off x="5166360" y="5230368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E7E7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D6E7E7"/>
                </a:solidFill>
                <a:latin typeface="Calibri"/>
                <a:ea typeface="Calibri"/>
                <a:cs typeface="Calibri"/>
                <a:sym typeface="Calibri"/>
              </a:rPr>
              <a:t>Priority support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8"/>
          <p:cNvSpPr/>
          <p:nvPr/>
        </p:nvSpPr>
        <p:spPr>
          <a:xfrm>
            <a:off x="7909560" y="2011680"/>
            <a:ext cx="2971800" cy="3840480"/>
          </a:xfrm>
          <a:prstGeom prst="roundRect">
            <a:avLst>
              <a:gd fmla="val 4308" name="adj"/>
            </a:avLst>
          </a:prstGeom>
          <a:solidFill>
            <a:srgbClr val="EDF5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7" name="Google Shape;327;p8"/>
          <p:cNvSpPr/>
          <p:nvPr/>
        </p:nvSpPr>
        <p:spPr>
          <a:xfrm>
            <a:off x="8229600" y="2304288"/>
            <a:ext cx="1463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Team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8"/>
          <p:cNvSpPr/>
          <p:nvPr/>
        </p:nvSpPr>
        <p:spPr>
          <a:xfrm>
            <a:off x="8229600" y="2697480"/>
            <a:ext cx="22860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72B"/>
              </a:buClr>
              <a:buSzPts val="4600"/>
              <a:buFont typeface="Cambria"/>
              <a:buNone/>
            </a:pPr>
            <a:r>
              <a:rPr b="1" i="0" lang="en-US" sz="4600" u="none" cap="none" strike="noStrike">
                <a:solidFill>
                  <a:srgbClr val="13272B"/>
                </a:solidFill>
                <a:latin typeface="Cambria"/>
                <a:ea typeface="Cambria"/>
                <a:cs typeface="Cambria"/>
                <a:sym typeface="Cambria"/>
              </a:rPr>
              <a:t>$59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"/>
          <p:cNvSpPr/>
          <p:nvPr/>
        </p:nvSpPr>
        <p:spPr>
          <a:xfrm>
            <a:off x="8229600" y="3493008"/>
            <a:ext cx="2286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6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B6B6E"/>
                </a:solidFill>
                <a:latin typeface="Calibri"/>
                <a:ea typeface="Calibri"/>
                <a:cs typeface="Calibri"/>
                <a:sym typeface="Calibri"/>
              </a:rPr>
              <a:t>per month, 10 seats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8"/>
          <p:cNvSpPr/>
          <p:nvPr/>
        </p:nvSpPr>
        <p:spPr>
          <a:xfrm>
            <a:off x="8247888" y="3922776"/>
            <a:ext cx="100584" cy="100584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1" name="Google Shape;331;p8"/>
          <p:cNvSpPr/>
          <p:nvPr/>
        </p:nvSpPr>
        <p:spPr>
          <a:xfrm>
            <a:off x="8503920" y="384048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72B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3272B"/>
                </a:solidFill>
                <a:latin typeface="Calibri"/>
                <a:ea typeface="Calibri"/>
                <a:cs typeface="Calibri"/>
                <a:sym typeface="Calibri"/>
              </a:rPr>
              <a:t>Everything in Pro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8"/>
          <p:cNvSpPr/>
          <p:nvPr/>
        </p:nvSpPr>
        <p:spPr>
          <a:xfrm>
            <a:off x="8247888" y="4288536"/>
            <a:ext cx="100584" cy="100584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8"/>
          <p:cNvSpPr/>
          <p:nvPr/>
        </p:nvSpPr>
        <p:spPr>
          <a:xfrm>
            <a:off x="8503920" y="420624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72B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3272B"/>
                </a:solidFill>
                <a:latin typeface="Calibri"/>
                <a:ea typeface="Calibri"/>
                <a:cs typeface="Calibri"/>
                <a:sym typeface="Calibri"/>
              </a:rPr>
              <a:t>Approval workflows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8"/>
          <p:cNvSpPr/>
          <p:nvPr/>
        </p:nvSpPr>
        <p:spPr>
          <a:xfrm>
            <a:off x="8247888" y="4654296"/>
            <a:ext cx="100584" cy="100584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" name="Google Shape;335;p8"/>
          <p:cNvSpPr/>
          <p:nvPr/>
        </p:nvSpPr>
        <p:spPr>
          <a:xfrm>
            <a:off x="8503920" y="457200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72B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3272B"/>
                </a:solidFill>
                <a:latin typeface="Calibri"/>
                <a:ea typeface="Calibri"/>
                <a:cs typeface="Calibri"/>
                <a:sym typeface="Calibri"/>
              </a:rPr>
              <a:t>Team permissions &amp; roles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8"/>
          <p:cNvSpPr/>
          <p:nvPr/>
        </p:nvSpPr>
        <p:spPr>
          <a:xfrm>
            <a:off x="8247888" y="5020056"/>
            <a:ext cx="100584" cy="100584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7" name="Google Shape;337;p8"/>
          <p:cNvSpPr/>
          <p:nvPr/>
        </p:nvSpPr>
        <p:spPr>
          <a:xfrm>
            <a:off x="8503920" y="493776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72B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3272B"/>
                </a:solidFill>
                <a:latin typeface="Calibri"/>
                <a:ea typeface="Calibri"/>
                <a:cs typeface="Calibri"/>
                <a:sym typeface="Calibri"/>
              </a:rPr>
              <a:t>Chatbot on company docs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8"/>
          <p:cNvSpPr/>
          <p:nvPr/>
        </p:nvSpPr>
        <p:spPr>
          <a:xfrm>
            <a:off x="8247888" y="5385816"/>
            <a:ext cx="100584" cy="100584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8"/>
          <p:cNvSpPr/>
          <p:nvPr/>
        </p:nvSpPr>
        <p:spPr>
          <a:xfrm>
            <a:off x="8503920" y="530352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72B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3272B"/>
                </a:solidFill>
                <a:latin typeface="Calibri"/>
                <a:ea typeface="Calibri"/>
                <a:cs typeface="Calibri"/>
                <a:sym typeface="Calibri"/>
              </a:rPr>
              <a:t>Analytics &amp; audit trail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8"/>
          <p:cNvSpPr/>
          <p:nvPr/>
        </p:nvSpPr>
        <p:spPr>
          <a:xfrm>
            <a:off x="640080" y="6144768"/>
            <a:ext cx="10881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6E"/>
              </a:buClr>
              <a:buSzPts val="1150"/>
              <a:buFont typeface="Calibri"/>
              <a:buNone/>
            </a:pPr>
            <a:r>
              <a:rPr b="0" i="1" lang="en-US" sz="1150" u="none" cap="none" strike="noStrike">
                <a:solidFill>
                  <a:srgbClr val="5B6B6E"/>
                </a:solidFill>
                <a:latin typeface="Calibri"/>
                <a:ea typeface="Calibri"/>
                <a:cs typeface="Calibri"/>
                <a:sym typeface="Calibri"/>
              </a:rPr>
              <a:t>Tier contents are a working proposal — the price points are fixed, the packaging is still open.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9"/>
          <p:cNvSpPr/>
          <p:nvPr/>
        </p:nvSpPr>
        <p:spPr>
          <a:xfrm>
            <a:off x="640080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ARCHITECTURE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9"/>
          <p:cNvSpPr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72B"/>
              </a:buClr>
              <a:buSzPts val="3600"/>
              <a:buFont typeface="Cambria"/>
              <a:buNone/>
            </a:pPr>
            <a:r>
              <a:rPr b="1" i="0" lang="en-US" sz="3600" u="none" cap="none" strike="noStrike">
                <a:solidFill>
                  <a:srgbClr val="13272B"/>
                </a:solidFill>
                <a:latin typeface="Cambria"/>
                <a:ea typeface="Cambria"/>
                <a:cs typeface="Cambria"/>
                <a:sym typeface="Cambria"/>
              </a:rPr>
              <a:t>Built on a fast, boring stack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9"/>
          <p:cNvSpPr/>
          <p:nvPr/>
        </p:nvSpPr>
        <p:spPr>
          <a:xfrm>
            <a:off x="640080" y="1554480"/>
            <a:ext cx="10881360" cy="1051560"/>
          </a:xfrm>
          <a:prstGeom prst="roundRect">
            <a:avLst>
              <a:gd fmla="val 12174" name="adj"/>
            </a:avLst>
          </a:prstGeom>
          <a:solidFill>
            <a:srgbClr val="EDF5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" name="Google Shape;349;p9"/>
          <p:cNvSpPr/>
          <p:nvPr/>
        </p:nvSpPr>
        <p:spPr>
          <a:xfrm>
            <a:off x="896112" y="1819656"/>
            <a:ext cx="548640" cy="54864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50" name="Google Shape;350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2416" y="1965960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351" name="Google Shape;351;p9"/>
          <p:cNvSpPr/>
          <p:nvPr/>
        </p:nvSpPr>
        <p:spPr>
          <a:xfrm>
            <a:off x="1600200" y="1773936"/>
            <a:ext cx="21945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72B"/>
              </a:buClr>
              <a:buSzPts val="1550"/>
              <a:buFont typeface="Calibri"/>
              <a:buNone/>
            </a:pPr>
            <a:r>
              <a:rPr b="1" i="0" lang="en-US" sz="1550" u="none" cap="none" strike="noStrike">
                <a:solidFill>
                  <a:srgbClr val="13272B"/>
                </a:solidFill>
                <a:latin typeface="Calibri"/>
                <a:ea typeface="Calibri"/>
                <a:cs typeface="Calibri"/>
                <a:sym typeface="Calibri"/>
              </a:rPr>
              <a:t>Application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9"/>
          <p:cNvSpPr/>
          <p:nvPr/>
        </p:nvSpPr>
        <p:spPr>
          <a:xfrm>
            <a:off x="1600200" y="2103120"/>
            <a:ext cx="32918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6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B6B6E"/>
                </a:solidFill>
                <a:latin typeface="Calibri"/>
                <a:ea typeface="Calibri"/>
                <a:cs typeface="Calibri"/>
                <a:sym typeface="Calibri"/>
              </a:rPr>
              <a:t>Single-page app, editor, dashboards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"/>
          <p:cNvSpPr/>
          <p:nvPr/>
        </p:nvSpPr>
        <p:spPr>
          <a:xfrm>
            <a:off x="5394960" y="1920240"/>
            <a:ext cx="1197864" cy="365760"/>
          </a:xfrm>
          <a:prstGeom prst="roundRect">
            <a:avLst>
              <a:gd fmla="val 45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p9"/>
          <p:cNvSpPr/>
          <p:nvPr/>
        </p:nvSpPr>
        <p:spPr>
          <a:xfrm>
            <a:off x="5394960" y="1975104"/>
            <a:ext cx="119786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Angular 21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9"/>
          <p:cNvSpPr/>
          <p:nvPr/>
        </p:nvSpPr>
        <p:spPr>
          <a:xfrm>
            <a:off x="6711696" y="1920240"/>
            <a:ext cx="948232" cy="365760"/>
          </a:xfrm>
          <a:prstGeom prst="roundRect">
            <a:avLst>
              <a:gd fmla="val 45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6" name="Google Shape;356;p9"/>
          <p:cNvSpPr/>
          <p:nvPr/>
        </p:nvSpPr>
        <p:spPr>
          <a:xfrm>
            <a:off x="6711696" y="1975104"/>
            <a:ext cx="94823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PrimeNG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9"/>
          <p:cNvSpPr/>
          <p:nvPr/>
        </p:nvSpPr>
        <p:spPr>
          <a:xfrm>
            <a:off x="7778800" y="1920240"/>
            <a:ext cx="1197864" cy="365760"/>
          </a:xfrm>
          <a:prstGeom prst="roundRect">
            <a:avLst>
              <a:gd fmla="val 45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p9"/>
          <p:cNvSpPr/>
          <p:nvPr/>
        </p:nvSpPr>
        <p:spPr>
          <a:xfrm>
            <a:off x="7778800" y="1975104"/>
            <a:ext cx="119786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Aura theme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"/>
          <p:cNvSpPr/>
          <p:nvPr/>
        </p:nvSpPr>
        <p:spPr>
          <a:xfrm>
            <a:off x="640080" y="2724912"/>
            <a:ext cx="10881360" cy="1051560"/>
          </a:xfrm>
          <a:prstGeom prst="roundRect">
            <a:avLst>
              <a:gd fmla="val 12174" name="adj"/>
            </a:avLst>
          </a:prstGeom>
          <a:solidFill>
            <a:srgbClr val="EDF5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0" name="Google Shape;360;p9"/>
          <p:cNvSpPr/>
          <p:nvPr/>
        </p:nvSpPr>
        <p:spPr>
          <a:xfrm>
            <a:off x="896112" y="2990088"/>
            <a:ext cx="548640" cy="548640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61" name="Google Shape;361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42416" y="3136392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362" name="Google Shape;362;p9"/>
          <p:cNvSpPr/>
          <p:nvPr/>
        </p:nvSpPr>
        <p:spPr>
          <a:xfrm>
            <a:off x="1600200" y="2944368"/>
            <a:ext cx="21945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72B"/>
              </a:buClr>
              <a:buSzPts val="1550"/>
              <a:buFont typeface="Calibri"/>
              <a:buNone/>
            </a:pPr>
            <a:r>
              <a:rPr b="1" i="0" lang="en-US" sz="1550" u="none" cap="none" strike="noStrike">
                <a:solidFill>
                  <a:srgbClr val="13272B"/>
                </a:solidFill>
                <a:latin typeface="Calibri"/>
                <a:ea typeface="Calibri"/>
                <a:cs typeface="Calibri"/>
                <a:sym typeface="Calibri"/>
              </a:rPr>
              <a:t>Backend &amp; auth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9"/>
          <p:cNvSpPr/>
          <p:nvPr/>
        </p:nvSpPr>
        <p:spPr>
          <a:xfrm>
            <a:off x="1600200" y="3273552"/>
            <a:ext cx="32918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6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B6B6E"/>
                </a:solidFill>
                <a:latin typeface="Calibri"/>
                <a:ea typeface="Calibri"/>
                <a:cs typeface="Calibri"/>
                <a:sym typeface="Calibri"/>
              </a:rPr>
              <a:t>REST API, sessions, queues, jobs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9"/>
          <p:cNvSpPr/>
          <p:nvPr/>
        </p:nvSpPr>
        <p:spPr>
          <a:xfrm>
            <a:off x="5394960" y="3090672"/>
            <a:ext cx="1197864" cy="365760"/>
          </a:xfrm>
          <a:prstGeom prst="roundRect">
            <a:avLst>
              <a:gd fmla="val 45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5" name="Google Shape;365;p9"/>
          <p:cNvSpPr/>
          <p:nvPr/>
        </p:nvSpPr>
        <p:spPr>
          <a:xfrm>
            <a:off x="5394960" y="3145536"/>
            <a:ext cx="119786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Laravel 12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9"/>
          <p:cNvSpPr/>
          <p:nvPr/>
        </p:nvSpPr>
        <p:spPr>
          <a:xfrm>
            <a:off x="6711696" y="3090672"/>
            <a:ext cx="948232" cy="365760"/>
          </a:xfrm>
          <a:prstGeom prst="roundRect">
            <a:avLst>
              <a:gd fmla="val 45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7" name="Google Shape;367;p9"/>
          <p:cNvSpPr/>
          <p:nvPr/>
        </p:nvSpPr>
        <p:spPr>
          <a:xfrm>
            <a:off x="6711696" y="3145536"/>
            <a:ext cx="94823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PHP 8.3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9"/>
          <p:cNvSpPr/>
          <p:nvPr/>
        </p:nvSpPr>
        <p:spPr>
          <a:xfrm>
            <a:off x="7778800" y="3090672"/>
            <a:ext cx="948232" cy="365760"/>
          </a:xfrm>
          <a:prstGeom prst="roundRect">
            <a:avLst>
              <a:gd fmla="val 45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9" name="Google Shape;369;p9"/>
          <p:cNvSpPr/>
          <p:nvPr/>
        </p:nvSpPr>
        <p:spPr>
          <a:xfrm>
            <a:off x="7778800" y="3145536"/>
            <a:ext cx="94823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Sanctum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9"/>
          <p:cNvSpPr/>
          <p:nvPr/>
        </p:nvSpPr>
        <p:spPr>
          <a:xfrm>
            <a:off x="640080" y="3895344"/>
            <a:ext cx="10881360" cy="1051560"/>
          </a:xfrm>
          <a:prstGeom prst="roundRect">
            <a:avLst>
              <a:gd fmla="val 12174" name="adj"/>
            </a:avLst>
          </a:prstGeom>
          <a:solidFill>
            <a:srgbClr val="EDF5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1" name="Google Shape;371;p9"/>
          <p:cNvSpPr/>
          <p:nvPr/>
        </p:nvSpPr>
        <p:spPr>
          <a:xfrm>
            <a:off x="896112" y="4160520"/>
            <a:ext cx="548640" cy="548640"/>
          </a:xfrm>
          <a:prstGeom prst="ellipse">
            <a:avLst/>
          </a:prstGeom>
          <a:solidFill>
            <a:srgbClr val="FFB84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72" name="Google Shape;372;p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42416" y="4306824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p9"/>
          <p:cNvSpPr/>
          <p:nvPr/>
        </p:nvSpPr>
        <p:spPr>
          <a:xfrm>
            <a:off x="1600200" y="4114800"/>
            <a:ext cx="21945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72B"/>
              </a:buClr>
              <a:buSzPts val="1550"/>
              <a:buFont typeface="Calibri"/>
              <a:buNone/>
            </a:pPr>
            <a:r>
              <a:rPr b="1" i="0" lang="en-US" sz="1550" u="none" cap="none" strike="noStrike">
                <a:solidFill>
                  <a:srgbClr val="13272B"/>
                </a:solidFill>
                <a:latin typeface="Calibri"/>
                <a:ea typeface="Calibri"/>
                <a:cs typeface="Calibri"/>
                <a:sym typeface="Calibri"/>
              </a:rPr>
              <a:t>Data &amp; cache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9"/>
          <p:cNvSpPr/>
          <p:nvPr/>
        </p:nvSpPr>
        <p:spPr>
          <a:xfrm>
            <a:off x="1600200" y="4443984"/>
            <a:ext cx="32918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6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B6B6E"/>
                </a:solidFill>
                <a:latin typeface="Calibri"/>
                <a:ea typeface="Calibri"/>
                <a:cs typeface="Calibri"/>
                <a:sym typeface="Calibri"/>
              </a:rPr>
              <a:t>Relational core, cache, queue, sessions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9"/>
          <p:cNvSpPr/>
          <p:nvPr/>
        </p:nvSpPr>
        <p:spPr>
          <a:xfrm>
            <a:off x="5394960" y="4261104"/>
            <a:ext cx="1114653" cy="365760"/>
          </a:xfrm>
          <a:prstGeom prst="roundRect">
            <a:avLst>
              <a:gd fmla="val 45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6" name="Google Shape;376;p9"/>
          <p:cNvSpPr/>
          <p:nvPr/>
        </p:nvSpPr>
        <p:spPr>
          <a:xfrm>
            <a:off x="5394960" y="4315968"/>
            <a:ext cx="1114653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MySQL 8.4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9"/>
          <p:cNvSpPr/>
          <p:nvPr/>
        </p:nvSpPr>
        <p:spPr>
          <a:xfrm>
            <a:off x="6628485" y="4261104"/>
            <a:ext cx="1031443" cy="365760"/>
          </a:xfrm>
          <a:prstGeom prst="roundRect">
            <a:avLst>
              <a:gd fmla="val 45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8" name="Google Shape;378;p9"/>
          <p:cNvSpPr/>
          <p:nvPr/>
        </p:nvSpPr>
        <p:spPr>
          <a:xfrm>
            <a:off x="6628485" y="4315968"/>
            <a:ext cx="1031443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Valkey 8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9"/>
          <p:cNvSpPr/>
          <p:nvPr/>
        </p:nvSpPr>
        <p:spPr>
          <a:xfrm>
            <a:off x="7778800" y="4261104"/>
            <a:ext cx="1364284" cy="365760"/>
          </a:xfrm>
          <a:prstGeom prst="roundRect">
            <a:avLst>
              <a:gd fmla="val 45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9"/>
          <p:cNvSpPr/>
          <p:nvPr/>
        </p:nvSpPr>
        <p:spPr>
          <a:xfrm>
            <a:off x="7778800" y="4315968"/>
            <a:ext cx="13642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TLS required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9"/>
          <p:cNvSpPr/>
          <p:nvPr/>
        </p:nvSpPr>
        <p:spPr>
          <a:xfrm>
            <a:off x="640080" y="5065776"/>
            <a:ext cx="10881360" cy="1051560"/>
          </a:xfrm>
          <a:prstGeom prst="roundRect">
            <a:avLst>
              <a:gd fmla="val 12174" name="adj"/>
            </a:avLst>
          </a:prstGeom>
          <a:solidFill>
            <a:srgbClr val="EDF5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9"/>
          <p:cNvSpPr/>
          <p:nvPr/>
        </p:nvSpPr>
        <p:spPr>
          <a:xfrm>
            <a:off x="896112" y="5330952"/>
            <a:ext cx="548640" cy="54864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83" name="Google Shape;383;p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42416" y="5477256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384" name="Google Shape;384;p9"/>
          <p:cNvSpPr/>
          <p:nvPr/>
        </p:nvSpPr>
        <p:spPr>
          <a:xfrm>
            <a:off x="1600200" y="5285232"/>
            <a:ext cx="21945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72B"/>
              </a:buClr>
              <a:buSzPts val="1550"/>
              <a:buFont typeface="Calibri"/>
              <a:buNone/>
            </a:pPr>
            <a:r>
              <a:rPr b="1" i="0" lang="en-US" sz="1550" u="none" cap="none" strike="noStrike">
                <a:solidFill>
                  <a:srgbClr val="13272B"/>
                </a:solidFill>
                <a:latin typeface="Calibri"/>
                <a:ea typeface="Calibri"/>
                <a:cs typeface="Calibri"/>
                <a:sym typeface="Calibri"/>
              </a:rPr>
              <a:t>Intelligence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9"/>
          <p:cNvSpPr/>
          <p:nvPr/>
        </p:nvSpPr>
        <p:spPr>
          <a:xfrm>
            <a:off x="1600200" y="5614416"/>
            <a:ext cx="32918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6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B6B6E"/>
                </a:solidFill>
                <a:latin typeface="Calibri"/>
                <a:ea typeface="Calibri"/>
                <a:cs typeface="Calibri"/>
                <a:sym typeface="Calibri"/>
              </a:rPr>
              <a:t>Generation, rewrite, answers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9"/>
          <p:cNvSpPr/>
          <p:nvPr/>
        </p:nvSpPr>
        <p:spPr>
          <a:xfrm>
            <a:off x="5394960" y="5431536"/>
            <a:ext cx="1197864" cy="365760"/>
          </a:xfrm>
          <a:prstGeom prst="roundRect">
            <a:avLst>
              <a:gd fmla="val 45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7" name="Google Shape;387;p9"/>
          <p:cNvSpPr/>
          <p:nvPr/>
        </p:nvSpPr>
        <p:spPr>
          <a:xfrm>
            <a:off x="5394960" y="5486400"/>
            <a:ext cx="119786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Claude API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9"/>
          <p:cNvSpPr/>
          <p:nvPr/>
        </p:nvSpPr>
        <p:spPr>
          <a:xfrm>
            <a:off x="6711696" y="5431536"/>
            <a:ext cx="1697126" cy="365760"/>
          </a:xfrm>
          <a:prstGeom prst="roundRect">
            <a:avLst>
              <a:gd fmla="val 45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9" name="Google Shape;389;p9"/>
          <p:cNvSpPr/>
          <p:nvPr/>
        </p:nvSpPr>
        <p:spPr>
          <a:xfrm>
            <a:off x="6711696" y="5486400"/>
            <a:ext cx="1697126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Driver interface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9"/>
          <p:cNvSpPr/>
          <p:nvPr/>
        </p:nvSpPr>
        <p:spPr>
          <a:xfrm>
            <a:off x="8527694" y="5431536"/>
            <a:ext cx="1364284" cy="365760"/>
          </a:xfrm>
          <a:prstGeom prst="roundRect">
            <a:avLst>
              <a:gd fmla="val 45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p9"/>
          <p:cNvSpPr/>
          <p:nvPr/>
        </p:nvSpPr>
        <p:spPr>
          <a:xfrm>
            <a:off x="8527694" y="5486400"/>
            <a:ext cx="13642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Vector index (TBD)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9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One managed MySQL, one Valkey, one object store, one vector index — all on DigitalOcean App Platform. Speech-to-text, embeddings and vector store: to be selected.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10"/>
          <p:cNvSpPr/>
          <p:nvPr/>
        </p:nvSpPr>
        <p:spPr>
          <a:xfrm>
            <a:off x="640080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POSITIONING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10"/>
          <p:cNvSpPr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72B"/>
              </a:buClr>
              <a:buSzPts val="3600"/>
              <a:buFont typeface="Cambria"/>
              <a:buNone/>
            </a:pPr>
            <a:r>
              <a:rPr b="1" i="0" lang="en-US" sz="3600" u="none" cap="none" strike="noStrike">
                <a:solidFill>
                  <a:srgbClr val="13272B"/>
                </a:solidFill>
                <a:latin typeface="Cambria"/>
                <a:ea typeface="Cambria"/>
                <a:cs typeface="Cambria"/>
                <a:sym typeface="Cambria"/>
              </a:rPr>
              <a:t>Why this wins against a wiki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10"/>
          <p:cNvSpPr/>
          <p:nvPr/>
        </p:nvSpPr>
        <p:spPr>
          <a:xfrm>
            <a:off x="640080" y="1691640"/>
            <a:ext cx="5212080" cy="1874520"/>
          </a:xfrm>
          <a:prstGeom prst="roundRect">
            <a:avLst>
              <a:gd fmla="val 6829" name="adj"/>
            </a:avLst>
          </a:prstGeom>
          <a:solidFill>
            <a:srgbClr val="04353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1" name="Google Shape;401;p10"/>
          <p:cNvSpPr/>
          <p:nvPr/>
        </p:nvSpPr>
        <p:spPr>
          <a:xfrm>
            <a:off x="932688" y="1984248"/>
            <a:ext cx="566928" cy="566928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02" name="Google Shape;402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88136" y="2139696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403" name="Google Shape;403;p10"/>
          <p:cNvSpPr/>
          <p:nvPr/>
        </p:nvSpPr>
        <p:spPr>
          <a:xfrm>
            <a:off x="1691640" y="2020824"/>
            <a:ext cx="3931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Creation is the bottleneck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10"/>
          <p:cNvSpPr/>
          <p:nvPr/>
        </p:nvSpPr>
        <p:spPr>
          <a:xfrm>
            <a:off x="1691640" y="2441448"/>
            <a:ext cx="393192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A9C7C9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A9C7C9"/>
                </a:solidFill>
                <a:latin typeface="Calibri"/>
                <a:ea typeface="Calibri"/>
                <a:cs typeface="Calibri"/>
                <a:sym typeface="Calibri"/>
              </a:rPr>
              <a:t>Wikis assume someone will write the page. We generate the first draft from a recording, so documentation actually gets created.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10"/>
          <p:cNvSpPr/>
          <p:nvPr/>
        </p:nvSpPr>
        <p:spPr>
          <a:xfrm>
            <a:off x="6263640" y="1691640"/>
            <a:ext cx="5212080" cy="1874520"/>
          </a:xfrm>
          <a:prstGeom prst="roundRect">
            <a:avLst>
              <a:gd fmla="val 6829" name="adj"/>
            </a:avLst>
          </a:prstGeom>
          <a:solidFill>
            <a:srgbClr val="EDF5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6" name="Google Shape;406;p10"/>
          <p:cNvSpPr/>
          <p:nvPr/>
        </p:nvSpPr>
        <p:spPr>
          <a:xfrm>
            <a:off x="6556248" y="1984248"/>
            <a:ext cx="566928" cy="566928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07" name="Google Shape;407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711696" y="2139696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408" name="Google Shape;408;p10"/>
          <p:cNvSpPr/>
          <p:nvPr/>
        </p:nvSpPr>
        <p:spPr>
          <a:xfrm>
            <a:off x="7315200" y="2020824"/>
            <a:ext cx="3931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72B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13272B"/>
                </a:solidFill>
                <a:latin typeface="Calibri"/>
                <a:ea typeface="Calibri"/>
                <a:cs typeface="Calibri"/>
                <a:sym typeface="Calibri"/>
              </a:rPr>
              <a:t>Answers, not documents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10"/>
          <p:cNvSpPr/>
          <p:nvPr/>
        </p:nvSpPr>
        <p:spPr>
          <a:xfrm>
            <a:off x="7315200" y="2441448"/>
            <a:ext cx="393192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5B6B6E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B6B6E"/>
                </a:solidFill>
                <a:latin typeface="Calibri"/>
                <a:ea typeface="Calibri"/>
                <a:cs typeface="Calibri"/>
                <a:sym typeface="Calibri"/>
              </a:rPr>
              <a:t>Search returns links. Our chatbot returns the step, cited back to the approved SOP it came from.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10"/>
          <p:cNvSpPr/>
          <p:nvPr/>
        </p:nvSpPr>
        <p:spPr>
          <a:xfrm>
            <a:off x="640080" y="3840480"/>
            <a:ext cx="5212080" cy="1874520"/>
          </a:xfrm>
          <a:prstGeom prst="roundRect">
            <a:avLst>
              <a:gd fmla="val 6829" name="adj"/>
            </a:avLst>
          </a:prstGeom>
          <a:solidFill>
            <a:srgbClr val="EDF5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1" name="Google Shape;411;p10"/>
          <p:cNvSpPr/>
          <p:nvPr/>
        </p:nvSpPr>
        <p:spPr>
          <a:xfrm>
            <a:off x="932688" y="4133088"/>
            <a:ext cx="566928" cy="566928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12" name="Google Shape;412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88136" y="4288536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413" name="Google Shape;413;p10"/>
          <p:cNvSpPr/>
          <p:nvPr/>
        </p:nvSpPr>
        <p:spPr>
          <a:xfrm>
            <a:off x="1691640" y="4169664"/>
            <a:ext cx="3931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72B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13272B"/>
                </a:solidFill>
                <a:latin typeface="Calibri"/>
                <a:ea typeface="Calibri"/>
                <a:cs typeface="Calibri"/>
                <a:sym typeface="Calibri"/>
              </a:rPr>
              <a:t>Governance built in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10"/>
          <p:cNvSpPr/>
          <p:nvPr/>
        </p:nvSpPr>
        <p:spPr>
          <a:xfrm>
            <a:off x="1691640" y="4590288"/>
            <a:ext cx="393192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5B6B6E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B6B6E"/>
                </a:solidFill>
                <a:latin typeface="Calibri"/>
                <a:ea typeface="Calibri"/>
                <a:cs typeface="Calibri"/>
                <a:sym typeface="Calibri"/>
              </a:rPr>
              <a:t>Approval workflow, ownership and version history are core objects — not a plugin or a manual convention.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0"/>
          <p:cNvSpPr/>
          <p:nvPr/>
        </p:nvSpPr>
        <p:spPr>
          <a:xfrm>
            <a:off x="6263640" y="3840480"/>
            <a:ext cx="5212080" cy="1874520"/>
          </a:xfrm>
          <a:prstGeom prst="roundRect">
            <a:avLst>
              <a:gd fmla="val 6829" name="adj"/>
            </a:avLst>
          </a:prstGeom>
          <a:solidFill>
            <a:srgbClr val="EDF5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6" name="Google Shape;416;p10"/>
          <p:cNvSpPr/>
          <p:nvPr/>
        </p:nvSpPr>
        <p:spPr>
          <a:xfrm>
            <a:off x="6556248" y="4133088"/>
            <a:ext cx="566928" cy="566928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17" name="Google Shape;417;p1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711696" y="4288536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418" name="Google Shape;418;p10"/>
          <p:cNvSpPr/>
          <p:nvPr/>
        </p:nvSpPr>
        <p:spPr>
          <a:xfrm>
            <a:off x="7315200" y="4169664"/>
            <a:ext cx="3931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72B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13272B"/>
                </a:solidFill>
                <a:latin typeface="Calibri"/>
                <a:ea typeface="Calibri"/>
                <a:cs typeface="Calibri"/>
                <a:sym typeface="Calibri"/>
              </a:rPr>
              <a:t>Priced for the whole team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10"/>
          <p:cNvSpPr/>
          <p:nvPr/>
        </p:nvSpPr>
        <p:spPr>
          <a:xfrm>
            <a:off x="7315200" y="4590288"/>
            <a:ext cx="393192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5B6B6E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B6B6E"/>
                </a:solidFill>
                <a:latin typeface="Calibri"/>
                <a:ea typeface="Calibri"/>
                <a:cs typeface="Calibri"/>
                <a:sym typeface="Calibri"/>
              </a:rPr>
              <a:t>A flat team tier at $59 makes it cheap to roll out to everyone, which is exactly when a knowledge base starts working.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10"/>
          <p:cNvSpPr/>
          <p:nvPr/>
        </p:nvSpPr>
        <p:spPr>
          <a:xfrm>
            <a:off x="640080" y="6080760"/>
            <a:ext cx="10881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250"/>
              <a:buFont typeface="Calibri"/>
              <a:buNone/>
            </a:pPr>
            <a:r>
              <a:rPr b="0" i="1" lang="en-US" sz="125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Competitors sell a place to put documents. We sell the documents getting written and read.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4353D"/>
        </a:solidFill>
      </p:bgPr>
    </p:bg>
    <p:spTree>
      <p:nvGrpSpPr>
        <p:cNvPr id="425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11"/>
          <p:cNvSpPr/>
          <p:nvPr/>
        </p:nvSpPr>
        <p:spPr>
          <a:xfrm>
            <a:off x="-1828800" y="3291840"/>
            <a:ext cx="6035040" cy="6035040"/>
          </a:xfrm>
          <a:prstGeom prst="ellipse">
            <a:avLst/>
          </a:prstGeom>
          <a:solidFill>
            <a:srgbClr val="028090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7" name="Google Shape;427;p11"/>
          <p:cNvSpPr/>
          <p:nvPr/>
        </p:nvSpPr>
        <p:spPr>
          <a:xfrm>
            <a:off x="640080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B84D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FFB84D"/>
                </a:solidFill>
                <a:latin typeface="Calibri"/>
                <a:ea typeface="Calibri"/>
                <a:cs typeface="Calibri"/>
                <a:sym typeface="Calibri"/>
              </a:rPr>
              <a:t>WHAT'S NEXT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11"/>
          <p:cNvSpPr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mbria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From concept to first customers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11"/>
          <p:cNvSpPr/>
          <p:nvPr/>
        </p:nvSpPr>
        <p:spPr>
          <a:xfrm>
            <a:off x="640080" y="2011680"/>
            <a:ext cx="2606040" cy="2743200"/>
          </a:xfrm>
          <a:prstGeom prst="roundRect">
            <a:avLst>
              <a:gd fmla="val 4912" name="adj"/>
            </a:avLst>
          </a:prstGeom>
          <a:solidFill>
            <a:srgbClr val="0A4A5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0" name="Google Shape;430;p11"/>
          <p:cNvSpPr/>
          <p:nvPr/>
        </p:nvSpPr>
        <p:spPr>
          <a:xfrm>
            <a:off x="914400" y="2286000"/>
            <a:ext cx="548640" cy="548640"/>
          </a:xfrm>
          <a:prstGeom prst="ellipse">
            <a:avLst/>
          </a:prstGeom>
          <a:solidFill>
            <a:srgbClr val="FFB84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31" name="Google Shape;431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0704" y="2432304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432" name="Google Shape;432;p11"/>
          <p:cNvSpPr/>
          <p:nvPr/>
        </p:nvSpPr>
        <p:spPr>
          <a:xfrm>
            <a:off x="914400" y="2999232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Prove the wedge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11"/>
          <p:cNvSpPr/>
          <p:nvPr/>
        </p:nvSpPr>
        <p:spPr>
          <a:xfrm>
            <a:off x="914400" y="3401568"/>
            <a:ext cx="210312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434"/>
              </a:lnSpc>
              <a:spcBef>
                <a:spcPts val="0"/>
              </a:spcBef>
              <a:spcAft>
                <a:spcPts val="0"/>
              </a:spcAft>
              <a:buClr>
                <a:srgbClr val="A9C7C9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A9C7C9"/>
                </a:solidFill>
                <a:latin typeface="Calibri"/>
                <a:ea typeface="Calibri"/>
                <a:cs typeface="Calibri"/>
                <a:sym typeface="Calibri"/>
              </a:rPr>
              <a:t>Ship recording → AI-drafted SOP end to end. That single flow is the demo and the wedge.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11"/>
          <p:cNvSpPr/>
          <p:nvPr/>
        </p:nvSpPr>
        <p:spPr>
          <a:xfrm>
            <a:off x="3456432" y="2011680"/>
            <a:ext cx="2606040" cy="2743200"/>
          </a:xfrm>
          <a:prstGeom prst="roundRect">
            <a:avLst>
              <a:gd fmla="val 4912" name="adj"/>
            </a:avLst>
          </a:prstGeom>
          <a:solidFill>
            <a:srgbClr val="0A4A5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5" name="Google Shape;435;p11"/>
          <p:cNvSpPr/>
          <p:nvPr/>
        </p:nvSpPr>
        <p:spPr>
          <a:xfrm>
            <a:off x="3730752" y="2286000"/>
            <a:ext cx="548640" cy="54864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36" name="Google Shape;436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877056" y="2432304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437" name="Google Shape;437;p11"/>
          <p:cNvSpPr/>
          <p:nvPr/>
        </p:nvSpPr>
        <p:spPr>
          <a:xfrm>
            <a:off x="3730752" y="2999232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Design partners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11"/>
          <p:cNvSpPr/>
          <p:nvPr/>
        </p:nvSpPr>
        <p:spPr>
          <a:xfrm>
            <a:off x="3730752" y="3401568"/>
            <a:ext cx="210312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434"/>
              </a:lnSpc>
              <a:spcBef>
                <a:spcPts val="0"/>
              </a:spcBef>
              <a:spcAft>
                <a:spcPts val="0"/>
              </a:spcAft>
              <a:buClr>
                <a:srgbClr val="A9C7C9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A9C7C9"/>
                </a:solidFill>
                <a:latin typeface="Calibri"/>
                <a:ea typeface="Calibri"/>
                <a:cs typeface="Calibri"/>
                <a:sym typeface="Calibri"/>
              </a:rPr>
              <a:t>Recruit 5 agencies or ops teams to run real processes through it for free, in exchange for feedback.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11"/>
          <p:cNvSpPr/>
          <p:nvPr/>
        </p:nvSpPr>
        <p:spPr>
          <a:xfrm>
            <a:off x="6272784" y="2011680"/>
            <a:ext cx="2606040" cy="2743200"/>
          </a:xfrm>
          <a:prstGeom prst="roundRect">
            <a:avLst>
              <a:gd fmla="val 4912" name="adj"/>
            </a:avLst>
          </a:prstGeom>
          <a:solidFill>
            <a:srgbClr val="0A4A5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0" name="Google Shape;440;p11"/>
          <p:cNvSpPr/>
          <p:nvPr/>
        </p:nvSpPr>
        <p:spPr>
          <a:xfrm>
            <a:off x="6547104" y="2286000"/>
            <a:ext cx="548640" cy="54864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41" name="Google Shape;441;p1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693408" y="2432304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442" name="Google Shape;442;p11"/>
          <p:cNvSpPr/>
          <p:nvPr/>
        </p:nvSpPr>
        <p:spPr>
          <a:xfrm>
            <a:off x="6547104" y="2999232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Ship the retrieval layer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1"/>
          <p:cNvSpPr/>
          <p:nvPr/>
        </p:nvSpPr>
        <p:spPr>
          <a:xfrm>
            <a:off x="6547104" y="3401568"/>
            <a:ext cx="210312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434"/>
              </a:lnSpc>
              <a:spcBef>
                <a:spcPts val="0"/>
              </a:spcBef>
              <a:spcAft>
                <a:spcPts val="0"/>
              </a:spcAft>
              <a:buClr>
                <a:srgbClr val="A9C7C9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A9C7C9"/>
                </a:solidFill>
                <a:latin typeface="Calibri"/>
                <a:ea typeface="Calibri"/>
                <a:cs typeface="Calibri"/>
                <a:sym typeface="Calibri"/>
              </a:rPr>
              <a:t>Chatbot with citations over approved content only — the feature that converts Free to Team.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11"/>
          <p:cNvSpPr/>
          <p:nvPr/>
        </p:nvSpPr>
        <p:spPr>
          <a:xfrm>
            <a:off x="9089136" y="2011680"/>
            <a:ext cx="2606040" cy="2743200"/>
          </a:xfrm>
          <a:prstGeom prst="roundRect">
            <a:avLst>
              <a:gd fmla="val 4912" name="adj"/>
            </a:avLst>
          </a:prstGeom>
          <a:solidFill>
            <a:srgbClr val="0A4A5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11"/>
          <p:cNvSpPr/>
          <p:nvPr/>
        </p:nvSpPr>
        <p:spPr>
          <a:xfrm>
            <a:off x="9363456" y="2286000"/>
            <a:ext cx="548640" cy="54864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46" name="Google Shape;446;p1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509760" y="2432304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447" name="Google Shape;447;p11"/>
          <p:cNvSpPr/>
          <p:nvPr/>
        </p:nvSpPr>
        <p:spPr>
          <a:xfrm>
            <a:off x="9363456" y="2999232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Open the paid tiers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11"/>
          <p:cNvSpPr/>
          <p:nvPr/>
        </p:nvSpPr>
        <p:spPr>
          <a:xfrm>
            <a:off x="9363456" y="3401568"/>
            <a:ext cx="210312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434"/>
              </a:lnSpc>
              <a:spcBef>
                <a:spcPts val="0"/>
              </a:spcBef>
              <a:spcAft>
                <a:spcPts val="0"/>
              </a:spcAft>
              <a:buClr>
                <a:srgbClr val="A9C7C9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A9C7C9"/>
                </a:solidFill>
                <a:latin typeface="Calibri"/>
                <a:ea typeface="Calibri"/>
                <a:cs typeface="Calibri"/>
                <a:sym typeface="Calibri"/>
              </a:rPr>
              <a:t>Launch Pro and Team once approval workflow and permissions are stable.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11"/>
          <p:cNvSpPr/>
          <p:nvPr/>
        </p:nvSpPr>
        <p:spPr>
          <a:xfrm>
            <a:off x="640080" y="5303520"/>
            <a:ext cx="10881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Cambria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One searchable source of truth for every process, policy and playbook.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11"/>
          <p:cNvSpPr/>
          <p:nvPr/>
        </p:nvSpPr>
        <p:spPr>
          <a:xfrm>
            <a:off x="640080" y="5852160"/>
            <a:ext cx="10881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FlowZapp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4353D"/>
        </a:solidFill>
      </p:bgPr>
    </p:bg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g3f678fe463e_0_4"/>
          <p:cNvSpPr/>
          <p:nvPr/>
        </p:nvSpPr>
        <p:spPr>
          <a:xfrm>
            <a:off x="-1828800" y="3291840"/>
            <a:ext cx="6035100" cy="6035100"/>
          </a:xfrm>
          <a:prstGeom prst="ellipse">
            <a:avLst/>
          </a:prstGeom>
          <a:solidFill>
            <a:srgbClr val="028090">
              <a:alpha val="1608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7" name="Google Shape;457;g3f678fe463e_0_4"/>
          <p:cNvSpPr/>
          <p:nvPr/>
        </p:nvSpPr>
        <p:spPr>
          <a:xfrm>
            <a:off x="640080" y="5852160"/>
            <a:ext cx="108813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FlowZapp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g3f678fe463e_0_4"/>
          <p:cNvSpPr txBox="1"/>
          <p:nvPr/>
        </p:nvSpPr>
        <p:spPr>
          <a:xfrm>
            <a:off x="4058550" y="2898000"/>
            <a:ext cx="4074900" cy="10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5700">
                <a:solidFill>
                  <a:schemeClr val="lt1"/>
                </a:solidFill>
              </a:rPr>
              <a:t>Thank You</a:t>
            </a:r>
            <a:endParaRPr b="1" sz="57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2026-08-06T05:46:48Z</dcterms:created>
  <dc:creator>PptxGenJS</dc:creator>
</cp:coreProperties>
</file>